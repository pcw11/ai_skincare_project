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ixC/kpJMcy1ub8t5N/HKKQsMXm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customschemas.google.com/relationships/presentationmetadata" Target="meta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6" name="Google Shape;53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6" name="Google Shape;82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3" name="Google Shape;98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2" name="Google Shape;103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7" name="Google Shape;107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7" name="Google Shape;108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7" name="Google Shape;114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0" name="Google Shape;118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0" name="Google Shape;119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5" name="Google Shape;123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0" name="Google Shape;127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1" name="Google Shape;1321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2" name="Google Shape;1322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AI 캡스톤디자인 프로젝트 기획서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Mirror Me</a:t>
            </a:r>
            <a:endParaRPr b="0" i="0" sz="6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20116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컴퓨터 비전(YOLOv8) 기반 피부 분석 및 LLM 기반 맞춤형 스킨케어 큐레이션 시스템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200400" y="2651760"/>
            <a:ext cx="2743200" cy="27432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rPr>
              <a:t>팀 응원해조  |  GitHub: usohee/AI_SkinCare_project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365760" y="118872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 xml:space="preserve">  목차 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365760" y="118872"/>
            <a:ext cx="54864" cy="384048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65760" y="731520"/>
            <a:ext cx="4023360" cy="118872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65760" y="731520"/>
            <a:ext cx="548640" cy="118872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65760" y="731520"/>
            <a:ext cx="548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005840" y="86868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300"/>
              <a:buFont typeface="Calibri"/>
              <a:buNone/>
            </a:pPr>
            <a:r>
              <a:rPr b="1" i="0" lang="en-US" sz="14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프로젝트 개요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005840" y="128016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팀 구성 · 배경 · 목표 · 핵심 기능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65760" y="2103120"/>
            <a:ext cx="4023360" cy="118872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65760" y="2103120"/>
            <a:ext cx="548640" cy="118872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65760" y="2103120"/>
            <a:ext cx="548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005840" y="224028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300"/>
              <a:buFont typeface="Calibri"/>
              <a:buNone/>
            </a:pPr>
            <a:r>
              <a:rPr b="1" i="0" lang="en-US" sz="14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시장 및 기술 분석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005840" y="265176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벤치마킹 · 차별화 전략 · 기술 스택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65760" y="3474720"/>
            <a:ext cx="4023360" cy="118872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65760" y="3474720"/>
            <a:ext cx="548640" cy="118872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65760" y="3474720"/>
            <a:ext cx="548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005840" y="361188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300"/>
              <a:buFont typeface="Calibri"/>
              <a:buNone/>
            </a:pPr>
            <a:r>
              <a:rPr b="1" i="0" lang="en-US" sz="14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시스템 설계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005840" y="402336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아키텍처 · 알고리즘 · 데이터 파이프라인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754880" y="731520"/>
            <a:ext cx="4023360" cy="118872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754880" y="731520"/>
            <a:ext cx="548640" cy="118872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754880" y="731520"/>
            <a:ext cx="548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394960" y="86868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300"/>
              <a:buFont typeface="Calibri"/>
              <a:buNone/>
            </a:pPr>
            <a:r>
              <a:rPr b="1" i="0" lang="en-US" sz="14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프로젝트 추진 계획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394960" y="128016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Gantt 차트 · 마일스톤 · 프로토타입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754880" y="2103120"/>
            <a:ext cx="4023360" cy="118872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754880" y="2103120"/>
            <a:ext cx="548640" cy="118872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754880" y="2103120"/>
            <a:ext cx="548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394960" y="224028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300"/>
              <a:buFont typeface="Calibri"/>
              <a:buNone/>
            </a:pPr>
            <a:r>
              <a:rPr b="1" i="0" lang="en-US" sz="14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사용자 테스트 계획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394960" y="265176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테스트 항목 · 평가 지표 · 개선 방안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754880" y="3474720"/>
            <a:ext cx="4023360" cy="118872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754880" y="3474720"/>
            <a:ext cx="548640" cy="118872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754880" y="3474720"/>
            <a:ext cx="548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394960" y="361188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300"/>
              <a:buFont typeface="Calibri"/>
              <a:buNone/>
            </a:pPr>
            <a:r>
              <a:rPr b="1" i="0" lang="en-US" sz="14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기대효과 · 참고문헌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5394960" y="402336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00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효과 분석 · 한계점 · 향후 방향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ECEF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40080" y="1371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SECTION 01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40080" y="192024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프로젝트 개요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40080" y="28346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팀 구성 · 배경 · 목표 · 핵심 기능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365760" y="118872"/>
            <a:ext cx="54864" cy="384048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93776" y="118872"/>
            <a:ext cx="8284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1.1 &amp; 1.2  팀 구성 및 GitHub 저장소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365760" y="658368"/>
            <a:ext cx="1828800" cy="50292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365760" y="658368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팀명: 응원해조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2286000" y="658368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0" i="0" lang="en-US" sz="16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GitHub: usohee/AI_SkinCare_project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365760" y="1325880"/>
            <a:ext cx="2651760" cy="146304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365760" y="1325880"/>
            <a:ext cx="2651760" cy="310896"/>
          </a:xfrm>
          <a:prstGeom prst="rect">
            <a:avLst/>
          </a:prstGeom>
          <a:solidFill>
            <a:srgbClr val="00796B"/>
          </a:solidFill>
          <a:ln cap="flat" cmpd="sng" w="12700">
            <a:solidFill>
              <a:srgbClr val="007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57200" y="1325880"/>
            <a:ext cx="2468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유소희 (팀장)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57200" y="167335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900"/>
              <a:buFont typeface="Calibri"/>
              <a:buNone/>
            </a:pPr>
            <a:r>
              <a:rPr b="1" i="0" lang="en-US" sz="16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AI &amp; Algorithm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57200" y="1920240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OpenCV 전처리 · YOLOv8 최적화 · 점수화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3200400" y="1325880"/>
            <a:ext cx="2651760" cy="146304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3200400" y="1325880"/>
            <a:ext cx="2651760" cy="3108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3291840" y="1325880"/>
            <a:ext cx="2468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조정인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3291840" y="167335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900"/>
              <a:buFont typeface="Calibri"/>
              <a:buNone/>
            </a:pPr>
            <a:r>
              <a:rPr b="1" i="0" lang="en-US" sz="16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Data Analysis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3291840" y="1920240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AI Hub 데이터셋 · Roboflow 라벨링 · 성분 DB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6035040" y="1325880"/>
            <a:ext cx="2651760" cy="146304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6035040" y="1325880"/>
            <a:ext cx="2651760" cy="3108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6126480" y="1325880"/>
            <a:ext cx="2468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이윤석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126480" y="167335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900"/>
              <a:buFont typeface="Calibri"/>
              <a:buNone/>
            </a:pPr>
            <a:r>
              <a:rPr b="1" i="0" lang="en-US" sz="16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AI Prompt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126480" y="1920240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LLM 리포트 설계 · 의학 가이드라인 지식베이스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365760" y="2971800"/>
            <a:ext cx="2651760" cy="146304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365760" y="2971800"/>
            <a:ext cx="2651760" cy="3108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57200" y="2971800"/>
            <a:ext cx="2468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장여정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57200" y="331927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900"/>
              <a:buFont typeface="Calibri"/>
              <a:buNone/>
            </a:pPr>
            <a:r>
              <a:rPr b="1" i="0" lang="en-US" sz="16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57200" y="3566160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Android UI · 시계열 그래프 · 대시보드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3200400" y="2971800"/>
            <a:ext cx="2651760" cy="146304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3200400" y="2971800"/>
            <a:ext cx="2651760" cy="3108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3291840" y="2971800"/>
            <a:ext cx="2468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현예진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3291840" y="331927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900"/>
              <a:buFont typeface="Calibri"/>
              <a:buNone/>
            </a:pPr>
            <a:r>
              <a:rPr b="1" i="0" lang="en-US" sz="16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Backend / DB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3291840" y="3566160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FastAPI 서버 · 히스토리 DB 설계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035040" y="2971800"/>
            <a:ext cx="2651760" cy="146304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035040" y="2971800"/>
            <a:ext cx="2651760" cy="3108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126480" y="2971800"/>
            <a:ext cx="2468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박채원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6126480" y="331927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900"/>
              <a:buFont typeface="Calibri"/>
              <a:buNone/>
            </a:pPr>
            <a:r>
              <a:rPr b="1" i="0" lang="en-US" sz="16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System Integ.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6126480" y="3566160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통합 · 디버깅 · QA 검증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365760" y="118872"/>
            <a:ext cx="54864" cy="384048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493776" y="118872"/>
            <a:ext cx="8284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1.2 GitHub 저장소 구조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365760" y="658368"/>
            <a:ext cx="8412480" cy="4206240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1E2D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548640" y="777240"/>
            <a:ext cx="804672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1250" lIns="1250" spcFirstLastPara="1" rIns="1250" wrap="square" tIns="1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950"/>
              <a:buFont typeface="Consolas"/>
              <a:buNone/>
            </a:pPr>
            <a:r>
              <a:rPr b="0" i="0" lang="en-US" sz="1600" u="none" cap="none" strike="noStrike">
                <a:solidFill>
                  <a:srgbClr val="A5D6A7"/>
                </a:solidFill>
                <a:latin typeface="Consolas"/>
                <a:ea typeface="Consolas"/>
                <a:cs typeface="Consolas"/>
                <a:sym typeface="Consolas"/>
              </a:rPr>
              <a:t>Mirror-Me-Production/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50"/>
              <a:buFont typeface="Consolas"/>
              <a:buNone/>
            </a:pPr>
            <a:r>
              <a:rPr b="0" i="0" lang="en-US" sz="1600" u="none" cap="none" strike="noStrike">
                <a:solidFill>
                  <a:srgbClr val="78909C"/>
                </a:solidFill>
                <a:latin typeface="Consolas"/>
                <a:ea typeface="Consolas"/>
                <a:cs typeface="Consolas"/>
                <a:sym typeface="Consolas"/>
              </a:rPr>
              <a:t>├── .github/              # CI/CD 워크플로우 (GitHub Actions)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50"/>
              <a:buFont typeface="Consolas"/>
              <a:buNone/>
            </a:pPr>
            <a:r>
              <a:rPr b="0" i="0" lang="en-US" sz="1600" u="none" cap="none" strike="noStrike">
                <a:solidFill>
                  <a:srgbClr val="78909C"/>
                </a:solidFill>
                <a:latin typeface="Consolas"/>
                <a:ea typeface="Consolas"/>
                <a:cs typeface="Consolas"/>
                <a:sym typeface="Consolas"/>
              </a:rPr>
              <a:t>├── api/                  # 백엔드 서버 소스 (FastAPI/Django)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50"/>
              <a:buFont typeface="Consolas"/>
              <a:buNone/>
            </a:pPr>
            <a:r>
              <a:rPr b="0" i="0" lang="en-US" sz="1600" u="none" cap="none" strike="noStrike">
                <a:solidFill>
                  <a:srgbClr val="78909C"/>
                </a:solidFill>
                <a:latin typeface="Consolas"/>
                <a:ea typeface="Consolas"/>
                <a:cs typeface="Consolas"/>
                <a:sym typeface="Consolas"/>
              </a:rPr>
              <a:t>│   ├── app/              # 비즈니스 로직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50"/>
              <a:buFont typeface="Consolas"/>
              <a:buNone/>
            </a:pPr>
            <a:r>
              <a:rPr b="0" i="0" lang="en-US" sz="1600" u="none" cap="none" strike="noStrike">
                <a:solidFill>
                  <a:srgbClr val="78909C"/>
                </a:solidFill>
                <a:latin typeface="Consolas"/>
                <a:ea typeface="Consolas"/>
                <a:cs typeface="Consolas"/>
                <a:sym typeface="Consolas"/>
              </a:rPr>
              <a:t>│   ├── core/             # 보안 및 설정 (API Key 관리)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50"/>
              <a:buFont typeface="Consolas"/>
              <a:buNone/>
            </a:pPr>
            <a:r>
              <a:rPr b="0" i="0" lang="en-US" sz="1600" u="none" cap="none" strike="noStrike">
                <a:solidFill>
                  <a:srgbClr val="78909C"/>
                </a:solidFill>
                <a:latin typeface="Consolas"/>
                <a:ea typeface="Consolas"/>
                <a:cs typeface="Consolas"/>
                <a:sym typeface="Consolas"/>
              </a:rPr>
              <a:t>│   └── tests/            # 유닛 및 통합 테스트 코드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50"/>
              <a:buFont typeface="Consolas"/>
              <a:buNone/>
            </a:pPr>
            <a:r>
              <a:rPr b="0" i="0" lang="en-US" sz="1600" u="none" cap="none" strike="noStrike">
                <a:solidFill>
                  <a:srgbClr val="78909C"/>
                </a:solidFill>
                <a:latin typeface="Consolas"/>
                <a:ea typeface="Consolas"/>
                <a:cs typeface="Consolas"/>
                <a:sym typeface="Consolas"/>
              </a:rPr>
              <a:t>├── frontend/             # 안드로이드 앱 소스 (Android Studio)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50"/>
              <a:buFont typeface="Consolas"/>
              <a:buNone/>
            </a:pPr>
            <a:r>
              <a:rPr b="0" i="0" lang="en-US" sz="1600" u="none" cap="none" strike="noStrike">
                <a:solidFill>
                  <a:srgbClr val="78909C"/>
                </a:solidFill>
                <a:latin typeface="Consolas"/>
                <a:ea typeface="Consolas"/>
                <a:cs typeface="Consolas"/>
                <a:sym typeface="Consolas"/>
              </a:rPr>
              <a:t>├── ai_engine/            # AI 분석 모듈 분리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50"/>
              <a:buFont typeface="Consolas"/>
              <a:buNone/>
            </a:pPr>
            <a:r>
              <a:rPr b="0" i="0" lang="en-US" sz="1600" u="none" cap="none" strike="noStrike">
                <a:solidFill>
                  <a:srgbClr val="78909C"/>
                </a:solidFill>
                <a:latin typeface="Consolas"/>
                <a:ea typeface="Consolas"/>
                <a:cs typeface="Consolas"/>
                <a:sym typeface="Consolas"/>
              </a:rPr>
              <a:t>│   ├── models/           # 버전별 가중치 파일 (.pt, .onnx)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50"/>
              <a:buFont typeface="Consolas"/>
              <a:buNone/>
            </a:pPr>
            <a:r>
              <a:rPr b="0" i="0" lang="en-US" sz="1600" u="none" cap="none" strike="noStrike">
                <a:solidFill>
                  <a:srgbClr val="78909C"/>
                </a:solidFill>
                <a:latin typeface="Consolas"/>
                <a:ea typeface="Consolas"/>
                <a:cs typeface="Consolas"/>
                <a:sym typeface="Consolas"/>
              </a:rPr>
              <a:t>│   ├── preprocessing/    # OpenCV CLAHE 및 ROI 추출 로직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50"/>
              <a:buFont typeface="Consolas"/>
              <a:buNone/>
            </a:pPr>
            <a:r>
              <a:rPr b="0" i="0" lang="en-US" sz="1600" u="none" cap="none" strike="noStrike">
                <a:solidFill>
                  <a:srgbClr val="78909C"/>
                </a:solidFill>
                <a:latin typeface="Consolas"/>
                <a:ea typeface="Consolas"/>
                <a:cs typeface="Consolas"/>
                <a:sym typeface="Consolas"/>
              </a:rPr>
              <a:t>│   └── inference.py      # 모델 추론 스크립트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50"/>
              <a:buFont typeface="Consolas"/>
              <a:buNone/>
            </a:pPr>
            <a:r>
              <a:rPr b="0" i="0" lang="en-US" sz="1600" u="none" cap="none" strike="noStrike">
                <a:solidFill>
                  <a:srgbClr val="78909C"/>
                </a:solidFill>
                <a:latin typeface="Consolas"/>
                <a:ea typeface="Consolas"/>
                <a:cs typeface="Consolas"/>
                <a:sym typeface="Consolas"/>
              </a:rPr>
              <a:t>├── data_pipeline/        # 데이터 관리 자동화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50"/>
              <a:buFont typeface="Consolas"/>
              <a:buNone/>
            </a:pPr>
            <a:r>
              <a:rPr b="0" i="0" lang="en-US" sz="1600" u="none" cap="none" strike="noStrike">
                <a:solidFill>
                  <a:srgbClr val="78909C"/>
                </a:solidFill>
                <a:latin typeface="Consolas"/>
                <a:ea typeface="Consolas"/>
                <a:cs typeface="Consolas"/>
                <a:sym typeface="Consolas"/>
              </a:rPr>
              <a:t>├── docker/               # 배포용 컨테이너 설정 (Docker Compose)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50"/>
              <a:buFont typeface="Consolas"/>
              <a:buNone/>
            </a:pPr>
            <a:r>
              <a:rPr b="0" i="0" lang="en-US" sz="1600" u="none" cap="none" strike="noStrike">
                <a:solidFill>
                  <a:srgbClr val="78909C"/>
                </a:solidFill>
                <a:latin typeface="Consolas"/>
                <a:ea typeface="Consolas"/>
                <a:cs typeface="Consolas"/>
                <a:sym typeface="Consolas"/>
              </a:rPr>
              <a:t>├── docs/                 # 기획 문서 및 플로우 차트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50"/>
              <a:buFont typeface="Consolas"/>
              <a:buNone/>
            </a:pPr>
            <a:r>
              <a:rPr b="0" i="0" lang="en-US" sz="1600" u="none" cap="none" strike="noStrike">
                <a:solidFill>
                  <a:srgbClr val="78909C"/>
                </a:solidFill>
                <a:latin typeface="Consolas"/>
                <a:ea typeface="Consolas"/>
                <a:cs typeface="Consolas"/>
                <a:sym typeface="Consolas"/>
              </a:rPr>
              <a:t>└── requirements.txt      # 의존성 라이브러리 목록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365760" y="118872"/>
            <a:ext cx="54864" cy="384048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93776" y="118872"/>
            <a:ext cx="8284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1.3  프로젝트 배경 및 필요성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365760" y="731520"/>
            <a:ext cx="73152" cy="118872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502920" y="731520"/>
            <a:ext cx="8275320" cy="118872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40080" y="804672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200"/>
              <a:buFont typeface="Calibri"/>
              <a:buNone/>
            </a:pPr>
            <a:r>
              <a:rPr b="1" i="0" lang="en-US" sz="18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K-뷰티 산업 성장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640080" y="1143000"/>
            <a:ext cx="7955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2030 세대 피부 관리 관심도 약 6배 증가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고가의 피부과 진단 비용은 여전히 경제적 부담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365760" y="2103120"/>
            <a:ext cx="73152" cy="1188720"/>
          </a:xfrm>
          <a:prstGeom prst="rect">
            <a:avLst/>
          </a:prstGeom>
          <a:solidFill>
            <a:srgbClr val="E91E63"/>
          </a:solidFill>
          <a:ln cap="flat" cmpd="sng" w="12700">
            <a:solidFill>
              <a:srgbClr val="E91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502920" y="2103120"/>
            <a:ext cx="8275320" cy="118872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640080" y="2176272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1200"/>
              <a:buFont typeface="Calibri"/>
              <a:buNone/>
            </a:pPr>
            <a:r>
              <a:rPr b="1" i="0" lang="en-US" sz="1800" u="none" cap="none" strike="noStrike">
                <a:solidFill>
                  <a:srgbClr val="E91E63"/>
                </a:solidFill>
                <a:latin typeface="Arial"/>
                <a:ea typeface="Arial"/>
                <a:cs typeface="Arial"/>
                <a:sym typeface="Arial"/>
              </a:rPr>
              <a:t>정보 비대칭 문제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640080" y="2514600"/>
            <a:ext cx="7955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SNS 정보 과잉으로 개인에게 적합한 정보 탐색 어려움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획일적 공장형 시술로 인한 부작용 사례 증가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365760" y="3474720"/>
            <a:ext cx="73152" cy="1188720"/>
          </a:xfrm>
          <a:prstGeom prst="rect">
            <a:avLst/>
          </a:prstGeom>
          <a:solidFill>
            <a:srgbClr val="00796B"/>
          </a:solidFill>
          <a:ln cap="flat" cmpd="sng" w="12700">
            <a:solidFill>
              <a:srgbClr val="007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502920" y="3474720"/>
            <a:ext cx="8275320" cy="118872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640080" y="3547872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200"/>
              <a:buFont typeface="Calibri"/>
              <a:buNone/>
            </a:pPr>
            <a:r>
              <a:rPr b="1" i="0" lang="en-US" sz="18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추진 동기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640080" y="3886200"/>
            <a:ext cx="7955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스마트폰만으로 전문 기기 수준의 피부 분석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검증된 의학 가이드라인 기반 맞춤 루틴 제공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365760" y="118872"/>
            <a:ext cx="54864" cy="384048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493776" y="118872"/>
            <a:ext cx="8284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1.4 프로젝트 제목 및 목표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365760" y="658368"/>
            <a:ext cx="8412480" cy="4572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컴퓨터 비전(YOLOv8) 기반 피부 분석 및 LLM 기반 맞춤형 스킨케어 큐레이션 시스템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365760" y="1234440"/>
            <a:ext cx="2651760" cy="356616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365760" y="1234440"/>
            <a:ext cx="2651760" cy="73152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57200" y="137160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90%+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57200" y="219456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탐지 정확도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1188720" y="2560320"/>
            <a:ext cx="1005840" cy="3657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457200" y="2651760"/>
            <a:ext cx="24688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50"/>
              <a:buFont typeface="Calibri"/>
              <a:buNone/>
            </a:pPr>
            <a:r>
              <a:rPr b="0" i="0" lang="en-US" sz="16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다양한 조명 환경에서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50"/>
              <a:buFont typeface="Calibri"/>
              <a:buNone/>
            </a:pPr>
            <a:r>
              <a:rPr b="0" i="0" lang="en-US" sz="16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주요 피부 지표 객체 탐지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50"/>
              <a:buFont typeface="Calibri"/>
              <a:buNone/>
            </a:pPr>
            <a:r>
              <a:rPr b="0" i="0" lang="en-US" sz="16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정확도 90% 이상 달성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3200400" y="1234440"/>
            <a:ext cx="2651760" cy="356616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3200400" y="1234440"/>
            <a:ext cx="2651760" cy="73152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3291840" y="137160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0~100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3291840" y="219456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피부 점수화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4023360" y="2560320"/>
            <a:ext cx="1005840" cy="3657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3291840" y="2651760"/>
            <a:ext cx="24688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50"/>
              <a:buFont typeface="Calibri"/>
              <a:buNone/>
            </a:pPr>
            <a:r>
              <a:rPr b="0" i="0" lang="en-US" sz="16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데이터 기반 정량적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50"/>
              <a:buFont typeface="Calibri"/>
              <a:buNone/>
            </a:pPr>
            <a:r>
              <a:rPr b="0" i="0" lang="en-US" sz="16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피부 변화 리포트 제공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50"/>
              <a:buFont typeface="Calibri"/>
              <a:buNone/>
            </a:pPr>
            <a:r>
              <a:rPr b="0" i="0" lang="en-US" sz="16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셀프 케어 동기 부여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6035040" y="1234440"/>
            <a:ext cx="2651760" cy="356616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6035040" y="1234440"/>
            <a:ext cx="2651760" cy="73152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6126480" y="137160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무료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6126480" y="219456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진단 서비스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6858000" y="2560320"/>
            <a:ext cx="1005840" cy="3657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6126480" y="2651760"/>
            <a:ext cx="24688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50"/>
              <a:buFont typeface="Calibri"/>
              <a:buNone/>
            </a:pPr>
            <a:r>
              <a:rPr b="0" i="0" lang="en-US" sz="16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스킨케어 정보 격차 해소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50"/>
              <a:buFont typeface="Calibri"/>
              <a:buNone/>
            </a:pPr>
            <a:r>
              <a:rPr b="0" i="0" lang="en-US" sz="16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경제적 진입 장벽을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950"/>
              <a:buFont typeface="Calibri"/>
              <a:buNone/>
            </a:pPr>
            <a:r>
              <a:rPr b="0" i="0" lang="en-US" sz="16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획기적으로 낮춤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365760" y="118872"/>
            <a:ext cx="54864" cy="384048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493776" y="118872"/>
            <a:ext cx="8284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1.5  프로젝트 주요 기능 요약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365760" y="914400"/>
            <a:ext cx="4114800" cy="169164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365760" y="914400"/>
            <a:ext cx="502920" cy="169164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365760" y="914400"/>
            <a:ext cx="5029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960120" y="105156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200"/>
              <a:buFont typeface="Calibri"/>
              <a:buNone/>
            </a:pPr>
            <a:r>
              <a:rPr b="1" i="0" lang="en-US" sz="14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개인화 프로필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960120" y="1463040"/>
            <a:ext cx="3429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나이·성별·알레르기 성분·선호 제형 데이터 수집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맞춤형 분석의 기초 마련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4663440" y="914400"/>
            <a:ext cx="4114800" cy="169164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663440" y="914400"/>
            <a:ext cx="502920" cy="169164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4663440" y="914400"/>
            <a:ext cx="5029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5257800" y="105156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200"/>
              <a:buFont typeface="Calibri"/>
              <a:buNone/>
            </a:pPr>
            <a:r>
              <a:rPr b="1" i="0" lang="en-US" sz="14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AI 고정밀 진단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5257800" y="1463040"/>
            <a:ext cx="3429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YOLOv8으로 여드름·모공·홍조·피지 4대 지표 탐지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0~100점으로 정량화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365760" y="2788920"/>
            <a:ext cx="4114800" cy="169164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365760" y="2788920"/>
            <a:ext cx="502920" cy="169164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365760" y="2788920"/>
            <a:ext cx="5029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960120" y="292608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200"/>
              <a:buFont typeface="Calibri"/>
              <a:buNone/>
            </a:pPr>
            <a:r>
              <a:rPr b="1" i="0" lang="en-US" sz="14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지능형 리포트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960120" y="3337560"/>
            <a:ext cx="3429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LLM이 분석 데이터를 해석하여 원인 도출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아침/저녁별 최적 스킨케어 루틴 생성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4663440" y="2788920"/>
            <a:ext cx="4114800" cy="169164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663440" y="2788920"/>
            <a:ext cx="502920" cy="169164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4663440" y="2788920"/>
            <a:ext cx="50292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5257800" y="292608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200"/>
              <a:buFont typeface="Calibri"/>
              <a:buNone/>
            </a:pPr>
            <a:r>
              <a:rPr b="1" i="0" lang="en-US" sz="14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제품 적합성 판별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5257800" y="3337560"/>
            <a:ext cx="3429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보유 제품 성분과 피부 타입 비교 분석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부족한 성분 보강할 제품 추천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ECEF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640080" y="1371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SECTION 02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640080" y="192024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시장 및 기술 분석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640080" y="28346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벤치마킹 · 차별화 전략 · 기술 스택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365760" y="118872"/>
            <a:ext cx="54864" cy="384048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493776" y="118872"/>
            <a:ext cx="8284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2.1  시장 벤치마킹 분석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365760" y="658368"/>
            <a:ext cx="1645920" cy="347472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411480" y="658368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항목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2011680" y="658368"/>
            <a:ext cx="2011680" cy="347472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2057400" y="65836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화해 (Hwahae)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4023360" y="658368"/>
            <a:ext cx="2011680" cy="347472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4069080" y="65836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잼페이스 (Zamface)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6035040" y="658368"/>
            <a:ext cx="2377440" cy="347472"/>
          </a:xfrm>
          <a:prstGeom prst="rect">
            <a:avLst/>
          </a:prstGeom>
          <a:solidFill>
            <a:srgbClr val="00796B"/>
          </a:solidFill>
          <a:ln cap="flat" cmpd="sng" w="12700">
            <a:solidFill>
              <a:srgbClr val="007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6080760" y="65836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Mirror Me ★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365760" y="1005840"/>
            <a:ext cx="164592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411480" y="1005840"/>
            <a:ext cx="1554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분석 방식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2011680" y="1005840"/>
            <a:ext cx="201168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2057400" y="1005840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주관적 리뷰 데이터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4023360" y="1005840"/>
            <a:ext cx="201168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4069080" y="1005840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퍼스널 컬러 / 유수분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6035040" y="1005840"/>
            <a:ext cx="2377440" cy="658368"/>
          </a:xfrm>
          <a:prstGeom prst="rect">
            <a:avLst/>
          </a:prstGeom>
          <a:solidFill>
            <a:srgbClr val="F1F8F7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6080760" y="1005840"/>
            <a:ext cx="2286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객체 탐지 (YOLOv8)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365760" y="1664208"/>
            <a:ext cx="1645920" cy="658368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411480" y="1664208"/>
            <a:ext cx="1554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데이터 성격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2011680" y="1664208"/>
            <a:ext cx="2011680" cy="658368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2057400" y="1664208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정성적 텍스트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4023360" y="1664208"/>
            <a:ext cx="2011680" cy="658368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4069080" y="1664208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영상 콘텐츠 중심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6035040" y="1664208"/>
            <a:ext cx="2377440" cy="658368"/>
          </a:xfrm>
          <a:prstGeom prst="rect">
            <a:avLst/>
          </a:prstGeom>
          <a:solidFill>
            <a:srgbClr val="F1F8F7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6080760" y="1664208"/>
            <a:ext cx="2286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정량적 수치 (0~100점)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365760" y="2322576"/>
            <a:ext cx="164592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411480" y="2322576"/>
            <a:ext cx="1554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핵심 차별점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2011680" y="2322576"/>
            <a:ext cx="201168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2057400" y="2322576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성분 사전 기능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4023360" y="2322576"/>
            <a:ext cx="201168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4069080" y="2322576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유튜버 타임점프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6035040" y="2322576"/>
            <a:ext cx="2377440" cy="658368"/>
          </a:xfrm>
          <a:prstGeom prst="rect">
            <a:avLst/>
          </a:prstGeom>
          <a:solidFill>
            <a:srgbClr val="F1F8F7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6080760" y="2322576"/>
            <a:ext cx="2286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보유 제품 적합성 판별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365760" y="2980944"/>
            <a:ext cx="1645920" cy="658368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411480" y="2980944"/>
            <a:ext cx="1554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가이드라인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2011680" y="2980944"/>
            <a:ext cx="2011680" cy="658368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2057400" y="2980944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사용자 투표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4023360" y="2980944"/>
            <a:ext cx="2011680" cy="658368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4069080" y="2980944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영상 가이드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6035040" y="2980944"/>
            <a:ext cx="2377440" cy="658368"/>
          </a:xfrm>
          <a:prstGeom prst="rect">
            <a:avLst/>
          </a:prstGeom>
          <a:solidFill>
            <a:srgbClr val="F1F8F7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6080760" y="2980944"/>
            <a:ext cx="2286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LLM 기반 능동형 루틴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365760" y="3639312"/>
            <a:ext cx="164592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411480" y="3639312"/>
            <a:ext cx="1554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피부 정밀 탐지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2011680" y="3639312"/>
            <a:ext cx="201168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2057400" y="3639312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❌ 없음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4023360" y="3639312"/>
            <a:ext cx="201168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4069080" y="3639312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△ 제한적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6035040" y="3639312"/>
            <a:ext cx="2377440" cy="658368"/>
          </a:xfrm>
          <a:prstGeom prst="rect">
            <a:avLst/>
          </a:prstGeom>
          <a:solidFill>
            <a:srgbClr val="F1F8F7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6080760" y="3639312"/>
            <a:ext cx="2286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✅ 4종 트러블 객체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365760" y="4297680"/>
            <a:ext cx="1645920" cy="658368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411480" y="4297680"/>
            <a:ext cx="1554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의학 가이드라인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2011680" y="4297680"/>
            <a:ext cx="2011680" cy="658368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2057400" y="4297680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❌ 없음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4023360" y="4297680"/>
            <a:ext cx="2011680" cy="658368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4069080" y="4297680"/>
            <a:ext cx="1920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❌ 없음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6035040" y="4297680"/>
            <a:ext cx="2377440" cy="658368"/>
          </a:xfrm>
          <a:prstGeom prst="rect">
            <a:avLst/>
          </a:prstGeom>
          <a:solidFill>
            <a:srgbClr val="F1F8F7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6080760" y="4297680"/>
            <a:ext cx="2286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✅ 식약처·피부과의사회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365760" y="118872"/>
            <a:ext cx="54864" cy="384048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493776" y="118872"/>
            <a:ext cx="8284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2.2 화해 vs Mirror Me 차별화 포인트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365760" y="658368"/>
            <a:ext cx="3474720" cy="347472"/>
          </a:xfrm>
          <a:prstGeom prst="rect">
            <a:avLst/>
          </a:prstGeom>
          <a:solidFill>
            <a:srgbClr val="546E7A"/>
          </a:solidFill>
          <a:ln cap="flat" cmpd="sng" w="12700">
            <a:solidFill>
              <a:srgbClr val="546E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365760" y="658368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화 해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5303520" y="658368"/>
            <a:ext cx="3474720" cy="347472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5303520" y="658368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Mirror Me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365760" y="1170432"/>
            <a:ext cx="3474720" cy="100584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457200" y="1261872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주관적 리뷰 텍스트 분석 강점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4206240" y="1490472"/>
            <a:ext cx="731520" cy="347472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4206240" y="1490472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5303520" y="1170432"/>
            <a:ext cx="3474720" cy="100584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5394960" y="1261872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YOLOv8 이미지 기반 객체 탐지 → 0~100 정량화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365760" y="2359152"/>
            <a:ext cx="3474720" cy="100584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457200" y="2450592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자가 피부 타입 사전 입력 필요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4206240" y="2679192"/>
            <a:ext cx="731520" cy="347472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4206240" y="2679192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5303520" y="2359152"/>
            <a:ext cx="3474720" cy="100584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5394960" y="2450592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실시간 하드웨어 보정 (OpenCV CLAHE)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365760" y="3547872"/>
            <a:ext cx="3474720" cy="100584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457200" y="3639312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현재 피부 상태 수치 확인 불가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4206240" y="3867912"/>
            <a:ext cx="731520" cy="347472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4206240" y="3867912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5303520" y="3547872"/>
            <a:ext cx="3474720" cy="100584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5394960" y="3639312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LLM 통합 처방 로직 (아침/저녁 루틴 자동 설계)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2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365760" y="118872"/>
            <a:ext cx="54864" cy="384048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493776" y="118872"/>
            <a:ext cx="8284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2.2 잼페이스 vs Mirror Me 차별화 포인트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365760" y="658368"/>
            <a:ext cx="3474720" cy="347472"/>
          </a:xfrm>
          <a:prstGeom prst="rect">
            <a:avLst/>
          </a:prstGeom>
          <a:solidFill>
            <a:srgbClr val="546E7A"/>
          </a:solidFill>
          <a:ln cap="flat" cmpd="sng" w="12700">
            <a:solidFill>
              <a:srgbClr val="546E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365760" y="658368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잼페이스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5303520" y="658368"/>
            <a:ext cx="3474720" cy="347472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5303520" y="658368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Mirror Me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365760" y="1170432"/>
            <a:ext cx="3474720" cy="100584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457200" y="1261872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퍼스널 컬러 · 유수분 분석에 집중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4206240" y="1490472"/>
            <a:ext cx="731520" cy="347472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4206240" y="1490472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5303520" y="1170432"/>
            <a:ext cx="3474720" cy="100584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5394960" y="1261872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YOLOv8 여드름·모공·홍조·피지 4종 정밀 탐지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365760" y="2359152"/>
            <a:ext cx="3474720" cy="100584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457200" y="2450592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메이크업 영상 콘텐츠 중심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4206240" y="2679192"/>
            <a:ext cx="731520" cy="347472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4206240" y="2679192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5303520" y="2359152"/>
            <a:ext cx="3474720" cy="100584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5394960" y="2450592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소장 제품 전성분 크롤링 → 피부 상태 비교 분석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365760" y="3547872"/>
            <a:ext cx="3474720" cy="100584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457200" y="3639312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제품 성분 적합성 밀착 관리 제한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4206240" y="3867912"/>
            <a:ext cx="731520" cy="347472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4206240" y="3867912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5303520" y="3547872"/>
            <a:ext cx="3474720" cy="100584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5394960" y="3639312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대한피부과의사회 가이드라인 기반 LLM 루틴 설계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3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365760" y="118872"/>
            <a:ext cx="54864" cy="384048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493776" y="118872"/>
            <a:ext cx="8284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2.3 개발환경 및 기술 스택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365760" y="658368"/>
            <a:ext cx="1965960" cy="416052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365760" y="658368"/>
            <a:ext cx="1965960" cy="41148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438912" y="658368"/>
            <a:ext cx="18196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&amp; Data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475488" y="1143000"/>
            <a:ext cx="1746504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502920" y="1143000"/>
            <a:ext cx="1691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Python / PyTorch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475488" y="1856232"/>
            <a:ext cx="1746504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502920" y="1856232"/>
            <a:ext cx="1691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YOLOv8 (Ultralytics)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475488" y="2569464"/>
            <a:ext cx="1746504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502920" y="2569464"/>
            <a:ext cx="1691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OpenCV (CLAHE)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475488" y="3282696"/>
            <a:ext cx="1746504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502920" y="3282696"/>
            <a:ext cx="1691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Roboflow 라벨링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475488" y="3995928"/>
            <a:ext cx="1746504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502920" y="3995928"/>
            <a:ext cx="1691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AI Hub 데이터셋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2514600" y="658368"/>
            <a:ext cx="1965960" cy="416052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2514600" y="658368"/>
            <a:ext cx="1965960" cy="411480"/>
          </a:xfrm>
          <a:prstGeom prst="rect">
            <a:avLst/>
          </a:prstGeom>
          <a:solidFill>
            <a:srgbClr val="00796B"/>
          </a:solidFill>
          <a:ln cap="flat" cmpd="sng" w="12700">
            <a:solidFill>
              <a:srgbClr val="007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2587752" y="658368"/>
            <a:ext cx="18196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2624328" y="1143000"/>
            <a:ext cx="1746504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2651760" y="1143000"/>
            <a:ext cx="1691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FastAPI / Django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2624328" y="1856232"/>
            <a:ext cx="1746504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2651760" y="1856232"/>
            <a:ext cx="1691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2624328" y="2569464"/>
            <a:ext cx="1746504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2651760" y="2569464"/>
            <a:ext cx="1691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Docker Compose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2624328" y="3282696"/>
            <a:ext cx="1746504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2651760" y="3282696"/>
            <a:ext cx="1691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DVC (데이터 버전관리)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2624328" y="3995928"/>
            <a:ext cx="1746504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2651760" y="3995928"/>
            <a:ext cx="1691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GitHub Actions CI/CD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4663440" y="658368"/>
            <a:ext cx="1965960" cy="416052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4663440" y="658368"/>
            <a:ext cx="1965960" cy="411480"/>
          </a:xfrm>
          <a:prstGeom prst="rect">
            <a:avLst/>
          </a:prstGeom>
          <a:solidFill>
            <a:srgbClr val="00BCD4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3"/>
          <p:cNvSpPr/>
          <p:nvPr/>
        </p:nvSpPr>
        <p:spPr>
          <a:xfrm>
            <a:off x="4736592" y="658368"/>
            <a:ext cx="18196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4773168" y="1143000"/>
            <a:ext cx="1746504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4800600" y="1143000"/>
            <a:ext cx="1691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Android Studio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4773168" y="1856232"/>
            <a:ext cx="1746504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4800600" y="1856232"/>
            <a:ext cx="1691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Kotlin / Java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4773168" y="2569464"/>
            <a:ext cx="1746504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3"/>
          <p:cNvSpPr/>
          <p:nvPr/>
        </p:nvSpPr>
        <p:spPr>
          <a:xfrm>
            <a:off x="4800600" y="2569464"/>
            <a:ext cx="1691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Figma (UI/UX)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3"/>
          <p:cNvSpPr/>
          <p:nvPr/>
        </p:nvSpPr>
        <p:spPr>
          <a:xfrm>
            <a:off x="4773168" y="3282696"/>
            <a:ext cx="1746504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4800600" y="3282696"/>
            <a:ext cx="1691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MPAndroidChart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4773168" y="3995928"/>
            <a:ext cx="1746504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3"/>
          <p:cNvSpPr/>
          <p:nvPr/>
        </p:nvSpPr>
        <p:spPr>
          <a:xfrm>
            <a:off x="4800600" y="3995928"/>
            <a:ext cx="1691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시계열 시각화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3"/>
          <p:cNvSpPr/>
          <p:nvPr/>
        </p:nvSpPr>
        <p:spPr>
          <a:xfrm>
            <a:off x="6812280" y="658368"/>
            <a:ext cx="1965960" cy="416052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3"/>
          <p:cNvSpPr/>
          <p:nvPr/>
        </p:nvSpPr>
        <p:spPr>
          <a:xfrm>
            <a:off x="6812280" y="658368"/>
            <a:ext cx="1965960" cy="411480"/>
          </a:xfrm>
          <a:prstGeom prst="rect">
            <a:avLst/>
          </a:prstGeom>
          <a:solidFill>
            <a:srgbClr val="7B1FA2"/>
          </a:solidFill>
          <a:ln cap="flat" cmpd="sng" w="12700">
            <a:solidFill>
              <a:srgbClr val="7B1F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6885432" y="658368"/>
            <a:ext cx="181965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 &amp; Tools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6922008" y="1143000"/>
            <a:ext cx="1746504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6949440" y="1143000"/>
            <a:ext cx="1691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GPT-4 API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6922008" y="1856232"/>
            <a:ext cx="1746504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6949440" y="1856232"/>
            <a:ext cx="1691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Claude API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6922008" y="2569464"/>
            <a:ext cx="1746504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6949440" y="2569464"/>
            <a:ext cx="1691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LangChain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6922008" y="3282696"/>
            <a:ext cx="1746504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6949440" y="3282696"/>
            <a:ext cx="1691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Cursor IDE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6922008" y="3995928"/>
            <a:ext cx="1746504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6949440" y="3995928"/>
            <a:ext cx="1691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RAG 파이프라인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ECEF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4"/>
          <p:cNvSpPr/>
          <p:nvPr/>
        </p:nvSpPr>
        <p:spPr>
          <a:xfrm>
            <a:off x="640080" y="1371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SECTION 03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4"/>
          <p:cNvSpPr/>
          <p:nvPr/>
        </p:nvSpPr>
        <p:spPr>
          <a:xfrm>
            <a:off x="640080" y="192024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시스템 설계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640080" y="28346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아키텍처 · 알고리즘 · 데이터 파이프라인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5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365760" y="118872"/>
            <a:ext cx="54864" cy="384048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5"/>
          <p:cNvSpPr/>
          <p:nvPr/>
        </p:nvSpPr>
        <p:spPr>
          <a:xfrm>
            <a:off x="493776" y="118872"/>
            <a:ext cx="8284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2.4 데이터 흐름 및 시스템 파이프라인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5"/>
          <p:cNvSpPr/>
          <p:nvPr/>
        </p:nvSpPr>
        <p:spPr>
          <a:xfrm>
            <a:off x="274320" y="777240"/>
            <a:ext cx="1508760" cy="3200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274320" y="777240"/>
            <a:ext cx="1508760" cy="347472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5"/>
          <p:cNvSpPr/>
          <p:nvPr/>
        </p:nvSpPr>
        <p:spPr>
          <a:xfrm>
            <a:off x="274320" y="777240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5"/>
          <p:cNvSpPr/>
          <p:nvPr/>
        </p:nvSpPr>
        <p:spPr>
          <a:xfrm>
            <a:off x="320040" y="118872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이미지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업로드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5"/>
          <p:cNvSpPr/>
          <p:nvPr/>
        </p:nvSpPr>
        <p:spPr>
          <a:xfrm>
            <a:off x="320040" y="1920240"/>
            <a:ext cx="14173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사용자 안면 촬영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스마트폰 카메라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5"/>
          <p:cNvSpPr/>
          <p:nvPr/>
        </p:nvSpPr>
        <p:spPr>
          <a:xfrm>
            <a:off x="1828800" y="1874520"/>
            <a:ext cx="118872" cy="3657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5"/>
          <p:cNvSpPr/>
          <p:nvPr/>
        </p:nvSpPr>
        <p:spPr>
          <a:xfrm>
            <a:off x="1810512" y="169164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1993392" y="777240"/>
            <a:ext cx="1508760" cy="3200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5"/>
          <p:cNvSpPr/>
          <p:nvPr/>
        </p:nvSpPr>
        <p:spPr>
          <a:xfrm>
            <a:off x="1993392" y="777240"/>
            <a:ext cx="1508760" cy="347472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1993392" y="777240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5"/>
          <p:cNvSpPr/>
          <p:nvPr/>
        </p:nvSpPr>
        <p:spPr>
          <a:xfrm>
            <a:off x="2039112" y="118872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OpenCV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보정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5"/>
          <p:cNvSpPr/>
          <p:nvPr/>
        </p:nvSpPr>
        <p:spPr>
          <a:xfrm>
            <a:off x="2039112" y="1920240"/>
            <a:ext cx="14173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CLAHE 조명 보정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ROI 추출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5"/>
          <p:cNvSpPr/>
          <p:nvPr/>
        </p:nvSpPr>
        <p:spPr>
          <a:xfrm>
            <a:off x="3547872" y="1874520"/>
            <a:ext cx="118872" cy="3657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5"/>
          <p:cNvSpPr/>
          <p:nvPr/>
        </p:nvSpPr>
        <p:spPr>
          <a:xfrm>
            <a:off x="3529584" y="169164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5"/>
          <p:cNvSpPr/>
          <p:nvPr/>
        </p:nvSpPr>
        <p:spPr>
          <a:xfrm>
            <a:off x="3712464" y="777240"/>
            <a:ext cx="1508760" cy="3200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5"/>
          <p:cNvSpPr/>
          <p:nvPr/>
        </p:nvSpPr>
        <p:spPr>
          <a:xfrm>
            <a:off x="3712464" y="777240"/>
            <a:ext cx="1508760" cy="347472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5"/>
          <p:cNvSpPr/>
          <p:nvPr/>
        </p:nvSpPr>
        <p:spPr>
          <a:xfrm>
            <a:off x="3712464" y="777240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5"/>
          <p:cNvSpPr/>
          <p:nvPr/>
        </p:nvSpPr>
        <p:spPr>
          <a:xfrm>
            <a:off x="3758184" y="118872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YOLOv8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탐지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5"/>
          <p:cNvSpPr/>
          <p:nvPr/>
        </p:nvSpPr>
        <p:spPr>
          <a:xfrm>
            <a:off x="3758184" y="1920240"/>
            <a:ext cx="14173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4대 지표 객체 탐지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Bounding Box 생성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5"/>
          <p:cNvSpPr/>
          <p:nvPr/>
        </p:nvSpPr>
        <p:spPr>
          <a:xfrm>
            <a:off x="5266944" y="1874520"/>
            <a:ext cx="118872" cy="3657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5248656" y="169164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5"/>
          <p:cNvSpPr/>
          <p:nvPr/>
        </p:nvSpPr>
        <p:spPr>
          <a:xfrm>
            <a:off x="5431536" y="777240"/>
            <a:ext cx="1508760" cy="3200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5"/>
          <p:cNvSpPr/>
          <p:nvPr/>
        </p:nvSpPr>
        <p:spPr>
          <a:xfrm>
            <a:off x="5431536" y="777240"/>
            <a:ext cx="1508760" cy="347472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5"/>
          <p:cNvSpPr/>
          <p:nvPr/>
        </p:nvSpPr>
        <p:spPr>
          <a:xfrm>
            <a:off x="5431536" y="777240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5"/>
          <p:cNvSpPr/>
          <p:nvPr/>
        </p:nvSpPr>
        <p:spPr>
          <a:xfrm>
            <a:off x="5477256" y="118872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점수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산출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5"/>
          <p:cNvSpPr/>
          <p:nvPr/>
        </p:nvSpPr>
        <p:spPr>
          <a:xfrm>
            <a:off x="5477256" y="1920240"/>
            <a:ext cx="14173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빈도·밀도 기반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0~100점 정량화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5"/>
          <p:cNvSpPr/>
          <p:nvPr/>
        </p:nvSpPr>
        <p:spPr>
          <a:xfrm>
            <a:off x="6986016" y="1874520"/>
            <a:ext cx="118872" cy="3657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5"/>
          <p:cNvSpPr/>
          <p:nvPr/>
        </p:nvSpPr>
        <p:spPr>
          <a:xfrm>
            <a:off x="6967728" y="1691640"/>
            <a:ext cx="182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5"/>
          <p:cNvSpPr/>
          <p:nvPr/>
        </p:nvSpPr>
        <p:spPr>
          <a:xfrm>
            <a:off x="7150608" y="777240"/>
            <a:ext cx="1508760" cy="32004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5"/>
          <p:cNvSpPr/>
          <p:nvPr/>
        </p:nvSpPr>
        <p:spPr>
          <a:xfrm>
            <a:off x="7150608" y="777240"/>
            <a:ext cx="1508760" cy="347472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5"/>
          <p:cNvSpPr/>
          <p:nvPr/>
        </p:nvSpPr>
        <p:spPr>
          <a:xfrm>
            <a:off x="7150608" y="777240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5"/>
          <p:cNvSpPr/>
          <p:nvPr/>
        </p:nvSpPr>
        <p:spPr>
          <a:xfrm>
            <a:off x="7196328" y="118872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LLM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리포트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5"/>
          <p:cNvSpPr/>
          <p:nvPr/>
        </p:nvSpPr>
        <p:spPr>
          <a:xfrm>
            <a:off x="7196328" y="1920240"/>
            <a:ext cx="14173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GPT-4/Claude 기반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5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맞춤 루틴 생성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5"/>
          <p:cNvSpPr/>
          <p:nvPr/>
        </p:nvSpPr>
        <p:spPr>
          <a:xfrm>
            <a:off x="274320" y="4114800"/>
            <a:ext cx="8595360" cy="68580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5"/>
          <p:cNvSpPr/>
          <p:nvPr/>
        </p:nvSpPr>
        <p:spPr>
          <a:xfrm>
            <a:off x="365760" y="411480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000"/>
              <a:buFont typeface="Calibri"/>
              <a:buNone/>
            </a:pPr>
            <a:r>
              <a:rPr b="0" i="0" lang="en-US" sz="14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분석 결과 → PostgreSQL DB 저장  |  누적 히스토리 → 시계열 시각화 (꺾은선 그래프)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6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6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6"/>
          <p:cNvSpPr/>
          <p:nvPr/>
        </p:nvSpPr>
        <p:spPr>
          <a:xfrm>
            <a:off x="365760" y="118872"/>
            <a:ext cx="54864" cy="38404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6"/>
          <p:cNvSpPr/>
          <p:nvPr/>
        </p:nvSpPr>
        <p:spPr>
          <a:xfrm>
            <a:off x="493776" y="118872"/>
            <a:ext cx="8284464" cy="384048"/>
          </a:xfrm>
          <a:prstGeom prst="rect">
            <a:avLst/>
          </a:prstGeom>
          <a:noFill/>
          <a:ln>
            <a:noFill/>
          </a:ln>
        </p:spPr>
        <p:txBody>
          <a:bodyPr anchorCtr="1" anchor="ctr" bIns="30475" lIns="60950" spcFirstLastPara="1" rIns="60950" wrap="square" tIns="30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A1A1A"/>
                </a:solidFill>
              </a:rPr>
              <a:t>2.5 시스템 아키텍처 다이어그램</a:t>
            </a:r>
            <a:endParaRPr/>
          </a:p>
        </p:txBody>
      </p:sp>
      <p:sp>
        <p:nvSpPr>
          <p:cNvPr id="464" name="Google Shape;464;p16"/>
          <p:cNvSpPr/>
          <p:nvPr/>
        </p:nvSpPr>
        <p:spPr>
          <a:xfrm>
            <a:off x="300000" y="600000"/>
            <a:ext cx="1700000" cy="800000"/>
          </a:xfrm>
          <a:prstGeom prst="rect">
            <a:avLst/>
          </a:prstGeom>
          <a:solidFill>
            <a:srgbClr val="1A3A5C"/>
          </a:solidFill>
          <a:ln cap="flat" cmpd="sng" w="381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300000" y="600000"/>
            <a:ext cx="1700000" cy="80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30475" lIns="60950" spcFirstLastPara="1" rIns="60950" wrap="square" tIns="30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📱 Android App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0CBC4"/>
                </a:solidFill>
                <a:latin typeface="Arial"/>
                <a:ea typeface="Arial"/>
                <a:cs typeface="Arial"/>
                <a:sym typeface="Arial"/>
              </a:rPr>
              <a:t>Kotlin / Java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0CBC4"/>
                </a:solidFill>
                <a:latin typeface="Arial"/>
                <a:ea typeface="Arial"/>
                <a:cs typeface="Arial"/>
                <a:sym typeface="Arial"/>
              </a:rPr>
              <a:t>MPAndroidChart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0CBC4"/>
                </a:solidFill>
                <a:latin typeface="Arial"/>
                <a:ea typeface="Arial"/>
                <a:cs typeface="Arial"/>
                <a:sym typeface="Arial"/>
              </a:rPr>
              <a:t>Figma UI/UX</a:t>
            </a:r>
            <a:endParaRPr/>
          </a:p>
        </p:txBody>
      </p:sp>
      <p:sp>
        <p:nvSpPr>
          <p:cNvPr id="466" name="Google Shape;466;p16"/>
          <p:cNvSpPr/>
          <p:nvPr/>
        </p:nvSpPr>
        <p:spPr>
          <a:xfrm>
            <a:off x="1050000" y="1420000"/>
            <a:ext cx="200000" cy="20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30475" lIns="60950" spcFirstLastPara="1" rIns="60950" wrap="square" tIns="30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467" name="Google Shape;467;p16"/>
          <p:cNvSpPr/>
          <p:nvPr/>
        </p:nvSpPr>
        <p:spPr>
          <a:xfrm>
            <a:off x="300000" y="1630000"/>
            <a:ext cx="1700000" cy="800000"/>
          </a:xfrm>
          <a:prstGeom prst="rect">
            <a:avLst/>
          </a:prstGeom>
          <a:solidFill>
            <a:srgbClr val="1A3A5C"/>
          </a:solidFill>
          <a:ln cap="flat" cmpd="sng" w="381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6"/>
          <p:cNvSpPr/>
          <p:nvPr/>
        </p:nvSpPr>
        <p:spPr>
          <a:xfrm>
            <a:off x="300000" y="1630000"/>
            <a:ext cx="1700000" cy="80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30475" lIns="60950" spcFirstLastPara="1" rIns="60950" wrap="square" tIns="30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⚙️ FastAPI / Django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0CBC4"/>
                </a:solidFill>
                <a:latin typeface="Arial"/>
                <a:ea typeface="Arial"/>
                <a:cs typeface="Arial"/>
                <a:sym typeface="Arial"/>
              </a:rPr>
              <a:t>REST API 서버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0CBC4"/>
                </a:solidFill>
                <a:latin typeface="Arial"/>
                <a:ea typeface="Arial"/>
                <a:cs typeface="Arial"/>
                <a:sym typeface="Arial"/>
              </a:rPr>
              <a:t>Docker Compose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0CBC4"/>
                </a:solidFill>
                <a:latin typeface="Arial"/>
                <a:ea typeface="Arial"/>
                <a:cs typeface="Arial"/>
                <a:sym typeface="Arial"/>
              </a:rPr>
              <a:t>GitHub Actions CI/CD</a:t>
            </a:r>
            <a:endParaRPr/>
          </a:p>
        </p:txBody>
      </p:sp>
      <p:sp>
        <p:nvSpPr>
          <p:cNvPr id="469" name="Google Shape;469;p16"/>
          <p:cNvSpPr/>
          <p:nvPr/>
        </p:nvSpPr>
        <p:spPr>
          <a:xfrm>
            <a:off x="1050000" y="2450000"/>
            <a:ext cx="200000" cy="20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30475" lIns="60950" spcFirstLastPara="1" rIns="60950" wrap="square" tIns="30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470" name="Google Shape;470;p16"/>
          <p:cNvSpPr/>
          <p:nvPr/>
        </p:nvSpPr>
        <p:spPr>
          <a:xfrm>
            <a:off x="300000" y="2660000"/>
            <a:ext cx="1700000" cy="800000"/>
          </a:xfrm>
          <a:prstGeom prst="rect">
            <a:avLst/>
          </a:prstGeom>
          <a:solidFill>
            <a:srgbClr val="1A3A5C"/>
          </a:solidFill>
          <a:ln cap="flat" cmpd="sng" w="381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6"/>
          <p:cNvSpPr/>
          <p:nvPr/>
        </p:nvSpPr>
        <p:spPr>
          <a:xfrm>
            <a:off x="300000" y="2660000"/>
            <a:ext cx="1700000" cy="80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30475" lIns="60950" spcFirstLastPara="1" rIns="60950" wrap="square" tIns="30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🧠 AI Engine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0CBC4"/>
                </a:solidFill>
                <a:latin typeface="Arial"/>
                <a:ea typeface="Arial"/>
                <a:cs typeface="Arial"/>
                <a:sym typeface="Arial"/>
              </a:rPr>
              <a:t>YOLOv8 탐지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0CBC4"/>
                </a:solidFill>
                <a:latin typeface="Arial"/>
                <a:ea typeface="Arial"/>
                <a:cs typeface="Arial"/>
                <a:sym typeface="Arial"/>
              </a:rPr>
              <a:t>OpenCV CLAHE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0CBC4"/>
                </a:solidFill>
                <a:latin typeface="Arial"/>
                <a:ea typeface="Arial"/>
                <a:cs typeface="Arial"/>
                <a:sym typeface="Arial"/>
              </a:rPr>
              <a:t>PyTorch / ONNX</a:t>
            </a:r>
            <a:endParaRPr/>
          </a:p>
        </p:txBody>
      </p:sp>
      <p:sp>
        <p:nvSpPr>
          <p:cNvPr id="472" name="Google Shape;472;p16"/>
          <p:cNvSpPr/>
          <p:nvPr/>
        </p:nvSpPr>
        <p:spPr>
          <a:xfrm>
            <a:off x="1050000" y="3480000"/>
            <a:ext cx="200000" cy="20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30475" lIns="60950" spcFirstLastPara="1" rIns="60950" wrap="square" tIns="30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473" name="Google Shape;473;p16"/>
          <p:cNvSpPr/>
          <p:nvPr/>
        </p:nvSpPr>
        <p:spPr>
          <a:xfrm>
            <a:off x="300000" y="3690000"/>
            <a:ext cx="1700000" cy="800000"/>
          </a:xfrm>
          <a:prstGeom prst="rect">
            <a:avLst/>
          </a:prstGeom>
          <a:solidFill>
            <a:srgbClr val="1A3A5C"/>
          </a:solidFill>
          <a:ln cap="flat" cmpd="sng" w="381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6"/>
          <p:cNvSpPr/>
          <p:nvPr/>
        </p:nvSpPr>
        <p:spPr>
          <a:xfrm>
            <a:off x="300000" y="3690000"/>
            <a:ext cx="1700000" cy="80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30475" lIns="60950" spcFirstLastPara="1" rIns="60950" wrap="square" tIns="30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🗄️ PostgreSQL DB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0CBC4"/>
                </a:solidFill>
                <a:latin typeface="Arial"/>
                <a:ea typeface="Arial"/>
                <a:cs typeface="Arial"/>
                <a:sym typeface="Arial"/>
              </a:rPr>
              <a:t>사용자 프로필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0CBC4"/>
                </a:solidFill>
                <a:latin typeface="Arial"/>
                <a:ea typeface="Arial"/>
                <a:cs typeface="Arial"/>
                <a:sym typeface="Arial"/>
              </a:rPr>
              <a:t>분석 히스토리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0CBC4"/>
                </a:solidFill>
                <a:latin typeface="Arial"/>
                <a:ea typeface="Arial"/>
                <a:cs typeface="Arial"/>
                <a:sym typeface="Arial"/>
              </a:rPr>
              <a:t>DVC 데이터 버전관리</a:t>
            </a:r>
            <a:endParaRPr/>
          </a:p>
        </p:txBody>
      </p:sp>
      <p:sp>
        <p:nvSpPr>
          <p:cNvPr id="475" name="Google Shape;475;p16"/>
          <p:cNvSpPr/>
          <p:nvPr/>
        </p:nvSpPr>
        <p:spPr>
          <a:xfrm>
            <a:off x="3200000" y="700000"/>
            <a:ext cx="2200000" cy="900000"/>
          </a:xfrm>
          <a:prstGeom prst="rect">
            <a:avLst/>
          </a:prstGeom>
          <a:solidFill>
            <a:srgbClr val="004D40"/>
          </a:solidFill>
          <a:ln cap="flat" cmpd="sng" w="38100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6"/>
          <p:cNvSpPr/>
          <p:nvPr/>
        </p:nvSpPr>
        <p:spPr>
          <a:xfrm>
            <a:off x="3200000" y="700000"/>
            <a:ext cx="2200000" cy="90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30475" lIns="60950" spcFirstLastPara="1" rIns="60950" wrap="square" tIns="30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GPT-4 API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2EBF2"/>
                </a:solidFill>
                <a:latin typeface="Arial"/>
                <a:ea typeface="Arial"/>
                <a:cs typeface="Arial"/>
                <a:sym typeface="Arial"/>
              </a:rPr>
              <a:t>수치 데이터 자연어 변환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2EBF2"/>
                </a:solidFill>
                <a:latin typeface="Arial"/>
                <a:ea typeface="Arial"/>
                <a:cs typeface="Arial"/>
                <a:sym typeface="Arial"/>
              </a:rPr>
              <a:t>데일리 루틴 생성</a:t>
            </a:r>
            <a:endParaRPr/>
          </a:p>
        </p:txBody>
      </p:sp>
      <p:sp>
        <p:nvSpPr>
          <p:cNvPr id="477" name="Google Shape;477;p16"/>
          <p:cNvSpPr/>
          <p:nvPr/>
        </p:nvSpPr>
        <p:spPr>
          <a:xfrm>
            <a:off x="3200000" y="1800000"/>
            <a:ext cx="2200000" cy="900000"/>
          </a:xfrm>
          <a:prstGeom prst="rect">
            <a:avLst/>
          </a:prstGeom>
          <a:solidFill>
            <a:srgbClr val="004D40"/>
          </a:solidFill>
          <a:ln cap="flat" cmpd="sng" w="38100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6"/>
          <p:cNvSpPr/>
          <p:nvPr/>
        </p:nvSpPr>
        <p:spPr>
          <a:xfrm>
            <a:off x="3200000" y="1800000"/>
            <a:ext cx="2200000" cy="90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30475" lIns="60950" spcFirstLastPara="1" rIns="60950" wrap="square" tIns="30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Claude API + RAG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2EBF2"/>
                </a:solidFill>
                <a:latin typeface="Arial"/>
                <a:ea typeface="Arial"/>
                <a:cs typeface="Arial"/>
                <a:sym typeface="Arial"/>
              </a:rPr>
              <a:t>의학 가이드라인 지식베이스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2EBF2"/>
                </a:solidFill>
                <a:latin typeface="Arial"/>
                <a:ea typeface="Arial"/>
                <a:cs typeface="Arial"/>
                <a:sym typeface="Arial"/>
              </a:rPr>
              <a:t>성분 적합성 고신뢰성 판별</a:t>
            </a:r>
            <a:endParaRPr/>
          </a:p>
        </p:txBody>
      </p:sp>
      <p:sp>
        <p:nvSpPr>
          <p:cNvPr id="479" name="Google Shape;479;p16"/>
          <p:cNvSpPr/>
          <p:nvPr/>
        </p:nvSpPr>
        <p:spPr>
          <a:xfrm>
            <a:off x="3200000" y="2900000"/>
            <a:ext cx="2200000" cy="900000"/>
          </a:xfrm>
          <a:prstGeom prst="rect">
            <a:avLst/>
          </a:prstGeom>
          <a:solidFill>
            <a:srgbClr val="004D40"/>
          </a:solidFill>
          <a:ln cap="flat" cmpd="sng" w="38100">
            <a:solidFill>
              <a:srgbClr val="4DB6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6"/>
          <p:cNvSpPr/>
          <p:nvPr/>
        </p:nvSpPr>
        <p:spPr>
          <a:xfrm>
            <a:off x="3200000" y="2900000"/>
            <a:ext cx="2200000" cy="90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30475" lIns="60950" spcFirstLastPara="1" rIns="60950" wrap="square" tIns="30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4DB6AC"/>
                </a:solidFill>
                <a:latin typeface="Arial"/>
                <a:ea typeface="Arial"/>
                <a:cs typeface="Arial"/>
                <a:sym typeface="Arial"/>
              </a:rPr>
              <a:t>LangChain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2EBF2"/>
                </a:solidFill>
                <a:latin typeface="Arial"/>
                <a:ea typeface="Arial"/>
                <a:cs typeface="Arial"/>
                <a:sym typeface="Arial"/>
              </a:rPr>
              <a:t>RAG 파이프라인 관리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2EBF2"/>
                </a:solidFill>
                <a:latin typeface="Arial"/>
                <a:ea typeface="Arial"/>
                <a:cs typeface="Arial"/>
                <a:sym typeface="Arial"/>
              </a:rPr>
              <a:t>프롬프트 체인 오케스트레이션</a:t>
            </a:r>
            <a:endParaRPr/>
          </a:p>
        </p:txBody>
      </p:sp>
      <p:sp>
        <p:nvSpPr>
          <p:cNvPr id="481" name="Google Shape;481;p16"/>
          <p:cNvSpPr/>
          <p:nvPr/>
        </p:nvSpPr>
        <p:spPr>
          <a:xfrm>
            <a:off x="6600000" y="700000"/>
            <a:ext cx="2300000" cy="850000"/>
          </a:xfrm>
          <a:prstGeom prst="rect">
            <a:avLst/>
          </a:prstGeom>
          <a:solidFill>
            <a:srgbClr val="1A1A2E"/>
          </a:solidFill>
          <a:ln cap="flat" cmpd="sng" w="38100">
            <a:solidFill>
              <a:srgbClr val="80CB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6"/>
          <p:cNvSpPr/>
          <p:nvPr/>
        </p:nvSpPr>
        <p:spPr>
          <a:xfrm>
            <a:off x="6600000" y="700000"/>
            <a:ext cx="2300000" cy="85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30475" lIns="60950" spcFirstLastPara="1" rIns="60950" wrap="square" tIns="30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80CBC4"/>
                </a:solidFill>
                <a:latin typeface="Arial"/>
                <a:ea typeface="Arial"/>
                <a:cs typeface="Arial"/>
                <a:sym typeface="Arial"/>
              </a:rPr>
              <a:t>AI Hub 데이터셋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2EBF2"/>
                </a:solidFill>
                <a:latin typeface="Arial"/>
                <a:ea typeface="Arial"/>
                <a:cs typeface="Arial"/>
                <a:sym typeface="Arial"/>
              </a:rPr>
              <a:t>한국인 피부 이미지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2EBF2"/>
                </a:solidFill>
                <a:latin typeface="Arial"/>
                <a:ea typeface="Arial"/>
                <a:cs typeface="Arial"/>
                <a:sym typeface="Arial"/>
              </a:rPr>
              <a:t>Roboflow 라벨링</a:t>
            </a:r>
            <a:endParaRPr/>
          </a:p>
        </p:txBody>
      </p:sp>
      <p:sp>
        <p:nvSpPr>
          <p:cNvPr id="483" name="Google Shape;483;p16"/>
          <p:cNvSpPr/>
          <p:nvPr/>
        </p:nvSpPr>
        <p:spPr>
          <a:xfrm>
            <a:off x="6600000" y="1750000"/>
            <a:ext cx="2300000" cy="850000"/>
          </a:xfrm>
          <a:prstGeom prst="rect">
            <a:avLst/>
          </a:prstGeom>
          <a:solidFill>
            <a:srgbClr val="1A1A2E"/>
          </a:solidFill>
          <a:ln cap="flat" cmpd="sng" w="38100">
            <a:solidFill>
              <a:srgbClr val="80CB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6"/>
          <p:cNvSpPr/>
          <p:nvPr/>
        </p:nvSpPr>
        <p:spPr>
          <a:xfrm>
            <a:off x="6600000" y="1750000"/>
            <a:ext cx="2300000" cy="85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30475" lIns="60950" spcFirstLastPara="1" rIns="60950" wrap="square" tIns="30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80CBC4"/>
                </a:solidFill>
                <a:latin typeface="Arial"/>
                <a:ea typeface="Arial"/>
                <a:cs typeface="Arial"/>
                <a:sym typeface="Arial"/>
              </a:rPr>
              <a:t>화장품 성분 DB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2EBF2"/>
                </a:solidFill>
                <a:latin typeface="Arial"/>
                <a:ea typeface="Arial"/>
                <a:cs typeface="Arial"/>
                <a:sym typeface="Arial"/>
              </a:rPr>
              <a:t>공공데이터 API 연동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2EBF2"/>
                </a:solidFill>
                <a:latin typeface="Arial"/>
                <a:ea typeface="Arial"/>
                <a:cs typeface="Arial"/>
                <a:sym typeface="Arial"/>
              </a:rPr>
              <a:t>성분 크롤링</a:t>
            </a:r>
            <a:endParaRPr/>
          </a:p>
        </p:txBody>
      </p:sp>
      <p:sp>
        <p:nvSpPr>
          <p:cNvPr id="485" name="Google Shape;485;p16"/>
          <p:cNvSpPr/>
          <p:nvPr/>
        </p:nvSpPr>
        <p:spPr>
          <a:xfrm>
            <a:off x="6600000" y="2800000"/>
            <a:ext cx="2300000" cy="850000"/>
          </a:xfrm>
          <a:prstGeom prst="rect">
            <a:avLst/>
          </a:prstGeom>
          <a:solidFill>
            <a:srgbClr val="1A1A2E"/>
          </a:solidFill>
          <a:ln cap="flat" cmpd="sng" w="38100">
            <a:solidFill>
              <a:srgbClr val="80CB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6"/>
          <p:cNvSpPr/>
          <p:nvPr/>
        </p:nvSpPr>
        <p:spPr>
          <a:xfrm>
            <a:off x="6600000" y="2800000"/>
            <a:ext cx="2300000" cy="85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30475" lIns="60950" spcFirstLastPara="1" rIns="60950" wrap="square" tIns="30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80CBC4"/>
                </a:solidFill>
              </a:rPr>
              <a:t xml:space="preserve">     </a:t>
            </a:r>
            <a:endParaRPr/>
          </a:p>
        </p:txBody>
      </p:sp>
      <p:sp>
        <p:nvSpPr>
          <p:cNvPr id="487" name="Google Shape;487;p16"/>
          <p:cNvSpPr/>
          <p:nvPr/>
        </p:nvSpPr>
        <p:spPr>
          <a:xfrm>
            <a:off x="2080000" y="2050000"/>
            <a:ext cx="1050000" cy="20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30475" lIns="60950" spcFirstLastPara="1" rIns="60950" wrap="square" tIns="30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→ 스코어/수치 전달 →</a:t>
            </a:r>
            <a:endParaRPr/>
          </a:p>
        </p:txBody>
      </p:sp>
      <p:sp>
        <p:nvSpPr>
          <p:cNvPr id="488" name="Google Shape;488;p16"/>
          <p:cNvSpPr/>
          <p:nvPr/>
        </p:nvSpPr>
        <p:spPr>
          <a:xfrm>
            <a:off x="5480000" y="2050000"/>
            <a:ext cx="1050000" cy="20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30475" lIns="60950" spcFirstLastPara="1" rIns="60950" wrap="square" tIns="30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→ 모델/데이터 →</a:t>
            </a:r>
            <a:endParaRPr/>
          </a:p>
        </p:txBody>
      </p:sp>
      <p:sp>
        <p:nvSpPr>
          <p:cNvPr id="489" name="Google Shape;489;p16"/>
          <p:cNvSpPr/>
          <p:nvPr/>
        </p:nvSpPr>
        <p:spPr>
          <a:xfrm>
            <a:off x="300000" y="4700000"/>
            <a:ext cx="8544000" cy="300000"/>
          </a:xfrm>
          <a:prstGeom prst="rect">
            <a:avLst/>
          </a:prstGeom>
          <a:solidFill>
            <a:srgbClr val="E0F2F1"/>
          </a:solidFill>
          <a:ln cap="flat" cmpd="sng" w="1905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6"/>
          <p:cNvSpPr/>
          <p:nvPr/>
        </p:nvSpPr>
        <p:spPr>
          <a:xfrm>
            <a:off x="300000" y="4700000"/>
            <a:ext cx="8544000" cy="300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30475" lIns="60950" spcFirstLastPara="1" rIns="60950" wrap="square" tIns="30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★ 모든 통신은 HTTPS 암호화 | Docker Compose 로 컨테이너화 배포 | GitHub Actions CI/CD 자동화</a:t>
            </a:r>
            <a:endParaRPr/>
          </a:p>
        </p:txBody>
      </p:sp>
      <p:sp>
        <p:nvSpPr>
          <p:cNvPr id="491" name="Google Shape;491;p16"/>
          <p:cNvSpPr txBox="1"/>
          <p:nvPr/>
        </p:nvSpPr>
        <p:spPr>
          <a:xfrm>
            <a:off x="7122550" y="2936400"/>
            <a:ext cx="1254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850">
                <a:solidFill>
                  <a:srgbClr val="80CBC4"/>
                </a:solidFill>
              </a:rPr>
              <a:t>대한 피부과 의사회                                식약처 가이드라인                                               RAG 지식베이스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7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7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7"/>
          <p:cNvSpPr/>
          <p:nvPr/>
        </p:nvSpPr>
        <p:spPr>
          <a:xfrm>
            <a:off x="365760" y="118872"/>
            <a:ext cx="54864" cy="384048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7"/>
          <p:cNvSpPr/>
          <p:nvPr/>
        </p:nvSpPr>
        <p:spPr>
          <a:xfrm>
            <a:off x="493776" y="118872"/>
            <a:ext cx="8284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b="1" lang="en-US" sz="1800">
                <a:solidFill>
                  <a:srgbClr val="1A1A1A"/>
                </a:solidFill>
              </a:rPr>
              <a:t>6</a:t>
            </a:r>
            <a:r>
              <a:rPr b="1" i="0" lang="en-US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 xml:space="preserve"> YOLOv8 모델 구조 및 알고리즘 설계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7"/>
          <p:cNvSpPr/>
          <p:nvPr/>
        </p:nvSpPr>
        <p:spPr>
          <a:xfrm>
            <a:off x="365760" y="65836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탐지 대상 — 4대 피부 지표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7"/>
          <p:cNvSpPr/>
          <p:nvPr/>
        </p:nvSpPr>
        <p:spPr>
          <a:xfrm>
            <a:off x="365760" y="1005840"/>
            <a:ext cx="54864" cy="73152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7"/>
          <p:cNvSpPr/>
          <p:nvPr/>
        </p:nvSpPr>
        <p:spPr>
          <a:xfrm>
            <a:off x="475488" y="1005840"/>
            <a:ext cx="3730752" cy="73152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7"/>
          <p:cNvSpPr/>
          <p:nvPr/>
        </p:nvSpPr>
        <p:spPr>
          <a:xfrm>
            <a:off x="594360" y="10515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여드름 (Acne)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7"/>
          <p:cNvSpPr/>
          <p:nvPr/>
        </p:nvSpPr>
        <p:spPr>
          <a:xfrm>
            <a:off x="594360" y="135331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개수·분포 밀도 기반 점수화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7"/>
          <p:cNvSpPr/>
          <p:nvPr/>
        </p:nvSpPr>
        <p:spPr>
          <a:xfrm>
            <a:off x="365760" y="1874520"/>
            <a:ext cx="54864" cy="73152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7"/>
          <p:cNvSpPr/>
          <p:nvPr/>
        </p:nvSpPr>
        <p:spPr>
          <a:xfrm>
            <a:off x="475488" y="1874520"/>
            <a:ext cx="3730752" cy="73152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7"/>
          <p:cNvSpPr/>
          <p:nvPr/>
        </p:nvSpPr>
        <p:spPr>
          <a:xfrm>
            <a:off x="594360" y="19202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모공 (Pore)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7"/>
          <p:cNvSpPr/>
          <p:nvPr/>
        </p:nvSpPr>
        <p:spPr>
          <a:xfrm>
            <a:off x="594360" y="222199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평균 면적·가시도 측정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7"/>
          <p:cNvSpPr/>
          <p:nvPr/>
        </p:nvSpPr>
        <p:spPr>
          <a:xfrm>
            <a:off x="365760" y="2743200"/>
            <a:ext cx="54864" cy="73152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7"/>
          <p:cNvSpPr/>
          <p:nvPr/>
        </p:nvSpPr>
        <p:spPr>
          <a:xfrm>
            <a:off x="475488" y="2743200"/>
            <a:ext cx="3730752" cy="73152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7"/>
          <p:cNvSpPr/>
          <p:nvPr/>
        </p:nvSpPr>
        <p:spPr>
          <a:xfrm>
            <a:off x="594360" y="278892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홍조 (Redness)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7"/>
          <p:cNvSpPr/>
          <p:nvPr/>
        </p:nvSpPr>
        <p:spPr>
          <a:xfrm>
            <a:off x="594360" y="309067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HSV 색공간 분석 적용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7"/>
          <p:cNvSpPr/>
          <p:nvPr/>
        </p:nvSpPr>
        <p:spPr>
          <a:xfrm>
            <a:off x="365760" y="3611880"/>
            <a:ext cx="54864" cy="73152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7"/>
          <p:cNvSpPr/>
          <p:nvPr/>
        </p:nvSpPr>
        <p:spPr>
          <a:xfrm>
            <a:off x="475488" y="3611880"/>
            <a:ext cx="3730752" cy="73152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7"/>
          <p:cNvSpPr/>
          <p:nvPr/>
        </p:nvSpPr>
        <p:spPr>
          <a:xfrm>
            <a:off x="594360" y="365760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피지 (Sebum)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7"/>
          <p:cNvSpPr/>
          <p:nvPr/>
        </p:nvSpPr>
        <p:spPr>
          <a:xfrm>
            <a:off x="594360" y="395935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반사율 기반 영역 탐지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7"/>
          <p:cNvSpPr/>
          <p:nvPr/>
        </p:nvSpPr>
        <p:spPr>
          <a:xfrm>
            <a:off x="4663440" y="65836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하이브리드 Vision Pipeline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7"/>
          <p:cNvSpPr/>
          <p:nvPr/>
        </p:nvSpPr>
        <p:spPr>
          <a:xfrm>
            <a:off x="4663440" y="1005840"/>
            <a:ext cx="4114800" cy="105156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7"/>
          <p:cNvSpPr/>
          <p:nvPr/>
        </p:nvSpPr>
        <p:spPr>
          <a:xfrm>
            <a:off x="4663440" y="1005840"/>
            <a:ext cx="457200" cy="105156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7"/>
          <p:cNvSpPr/>
          <p:nvPr/>
        </p:nvSpPr>
        <p:spPr>
          <a:xfrm>
            <a:off x="4663440" y="1005840"/>
            <a:ext cx="457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7"/>
          <p:cNvSpPr/>
          <p:nvPr/>
        </p:nvSpPr>
        <p:spPr>
          <a:xfrm>
            <a:off x="5193792" y="107899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CLAHE 고도화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7"/>
          <p:cNvSpPr/>
          <p:nvPr/>
        </p:nvSpPr>
        <p:spPr>
          <a:xfrm>
            <a:off x="5193792" y="1389888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clipLimit을 피부 톤에 따라 동적 조절하는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적응형 조명 보정 알고리즘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7"/>
          <p:cNvSpPr/>
          <p:nvPr/>
        </p:nvSpPr>
        <p:spPr>
          <a:xfrm>
            <a:off x="4663440" y="2167128"/>
            <a:ext cx="4114800" cy="105156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7"/>
          <p:cNvSpPr/>
          <p:nvPr/>
        </p:nvSpPr>
        <p:spPr>
          <a:xfrm>
            <a:off x="4663440" y="2167128"/>
            <a:ext cx="457200" cy="105156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7"/>
          <p:cNvSpPr/>
          <p:nvPr/>
        </p:nvSpPr>
        <p:spPr>
          <a:xfrm>
            <a:off x="4663440" y="2167128"/>
            <a:ext cx="457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7"/>
          <p:cNvSpPr/>
          <p:nvPr/>
        </p:nvSpPr>
        <p:spPr>
          <a:xfrm>
            <a:off x="5193792" y="22402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YOLOv8 연동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7"/>
          <p:cNvSpPr/>
          <p:nvPr/>
        </p:nvSpPr>
        <p:spPr>
          <a:xfrm>
            <a:off x="5193792" y="2551176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YOLO가 찾고 OpenCV가 정밀 측정하는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하이브리드 방식으로 구축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7"/>
          <p:cNvSpPr/>
          <p:nvPr/>
        </p:nvSpPr>
        <p:spPr>
          <a:xfrm>
            <a:off x="4663440" y="3328416"/>
            <a:ext cx="4114800" cy="105156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7"/>
          <p:cNvSpPr/>
          <p:nvPr/>
        </p:nvSpPr>
        <p:spPr>
          <a:xfrm>
            <a:off x="4663440" y="3328416"/>
            <a:ext cx="457200" cy="105156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7"/>
          <p:cNvSpPr/>
          <p:nvPr/>
        </p:nvSpPr>
        <p:spPr>
          <a:xfrm>
            <a:off x="4663440" y="3328416"/>
            <a:ext cx="457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7"/>
          <p:cNvSpPr/>
          <p:nvPr/>
        </p:nvSpPr>
        <p:spPr>
          <a:xfrm>
            <a:off x="5193792" y="340156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000"/>
              <a:buFont typeface="Calibri"/>
              <a:buNone/>
            </a:pPr>
            <a:r>
              <a:rPr b="1" i="0" lang="en-US" sz="13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자동 데이터 로더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7"/>
          <p:cNvSpPr/>
          <p:nvPr/>
        </p:nvSpPr>
        <p:spPr>
          <a:xfrm>
            <a:off x="5193792" y="3712464"/>
            <a:ext cx="3474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Roboflow 라벨 데이터를 학습용 이미지와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자동 매칭하는 parse_label_files 확장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8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8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8"/>
          <p:cNvSpPr/>
          <p:nvPr/>
        </p:nvSpPr>
        <p:spPr>
          <a:xfrm>
            <a:off x="365760" y="118872"/>
            <a:ext cx="54864" cy="384048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8"/>
          <p:cNvSpPr/>
          <p:nvPr/>
        </p:nvSpPr>
        <p:spPr>
          <a:xfrm>
            <a:off x="493776" y="118872"/>
            <a:ext cx="8284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 xml:space="preserve"> 2.</a:t>
            </a:r>
            <a:r>
              <a:rPr b="1" lang="en-US" sz="1800">
                <a:solidFill>
                  <a:srgbClr val="1A1A1A"/>
                </a:solidFill>
              </a:rPr>
              <a:t>7</a:t>
            </a:r>
            <a:r>
              <a:rPr b="1" i="0" lang="en-US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 xml:space="preserve"> 데이터 수집·전처리 및 LLM 활용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8"/>
          <p:cNvSpPr/>
          <p:nvPr/>
        </p:nvSpPr>
        <p:spPr>
          <a:xfrm>
            <a:off x="365760" y="65836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데이터 수집 및 전처리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8"/>
          <p:cNvSpPr/>
          <p:nvPr/>
        </p:nvSpPr>
        <p:spPr>
          <a:xfrm>
            <a:off x="365760" y="1005840"/>
            <a:ext cx="3931920" cy="118872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8"/>
          <p:cNvSpPr/>
          <p:nvPr/>
        </p:nvSpPr>
        <p:spPr>
          <a:xfrm>
            <a:off x="365760" y="1005840"/>
            <a:ext cx="3931920" cy="32004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8"/>
          <p:cNvSpPr/>
          <p:nvPr/>
        </p:nvSpPr>
        <p:spPr>
          <a:xfrm>
            <a:off x="457200" y="100584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Hub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8"/>
          <p:cNvSpPr/>
          <p:nvPr/>
        </p:nvSpPr>
        <p:spPr>
          <a:xfrm>
            <a:off x="457200" y="1353312"/>
            <a:ext cx="3749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한국인 피부 이미지 데이터셋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국내 사용자 특성 반영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8"/>
          <p:cNvSpPr/>
          <p:nvPr/>
        </p:nvSpPr>
        <p:spPr>
          <a:xfrm>
            <a:off x="365760" y="2331720"/>
            <a:ext cx="3931920" cy="118872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8"/>
          <p:cNvSpPr/>
          <p:nvPr/>
        </p:nvSpPr>
        <p:spPr>
          <a:xfrm>
            <a:off x="365760" y="2331720"/>
            <a:ext cx="3931920" cy="32004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8"/>
          <p:cNvSpPr/>
          <p:nvPr/>
        </p:nvSpPr>
        <p:spPr>
          <a:xfrm>
            <a:off x="457200" y="233172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Roboflow 라벨링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8"/>
          <p:cNvSpPr/>
          <p:nvPr/>
        </p:nvSpPr>
        <p:spPr>
          <a:xfrm>
            <a:off x="457200" y="2679192"/>
            <a:ext cx="3749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자동 라벨링 + 조명·노이즈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Augmentation으로 강건성 확보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8"/>
          <p:cNvSpPr/>
          <p:nvPr/>
        </p:nvSpPr>
        <p:spPr>
          <a:xfrm>
            <a:off x="365760" y="3657600"/>
            <a:ext cx="3931920" cy="118872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8"/>
          <p:cNvSpPr/>
          <p:nvPr/>
        </p:nvSpPr>
        <p:spPr>
          <a:xfrm>
            <a:off x="365760" y="3657600"/>
            <a:ext cx="3931920" cy="32004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8"/>
          <p:cNvSpPr/>
          <p:nvPr/>
        </p:nvSpPr>
        <p:spPr>
          <a:xfrm>
            <a:off x="457200" y="36576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공공데이터 API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8"/>
          <p:cNvSpPr/>
          <p:nvPr/>
        </p:nvSpPr>
        <p:spPr>
          <a:xfrm>
            <a:off x="457200" y="4005072"/>
            <a:ext cx="3749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화장품 성분 정보 API 연동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크롤링으로 성분 DB 구축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8"/>
          <p:cNvSpPr/>
          <p:nvPr/>
        </p:nvSpPr>
        <p:spPr>
          <a:xfrm>
            <a:off x="4663440" y="65836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LLM 활용 전략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8"/>
          <p:cNvSpPr/>
          <p:nvPr/>
        </p:nvSpPr>
        <p:spPr>
          <a:xfrm>
            <a:off x="4663440" y="1005840"/>
            <a:ext cx="4114800" cy="118872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8"/>
          <p:cNvSpPr/>
          <p:nvPr/>
        </p:nvSpPr>
        <p:spPr>
          <a:xfrm>
            <a:off x="4663440" y="1005840"/>
            <a:ext cx="4114800" cy="320040"/>
          </a:xfrm>
          <a:prstGeom prst="rect">
            <a:avLst/>
          </a:prstGeom>
          <a:solidFill>
            <a:srgbClr val="00796B"/>
          </a:solidFill>
          <a:ln cap="flat" cmpd="sng" w="12700">
            <a:solidFill>
              <a:srgbClr val="007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8"/>
          <p:cNvSpPr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개발 보조 (Cursor, Claude)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8"/>
          <p:cNvSpPr/>
          <p:nvPr/>
        </p:nvSpPr>
        <p:spPr>
          <a:xfrm>
            <a:off x="4754880" y="1353312"/>
            <a:ext cx="3931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알고리즘 로직 검증 · Python API 코드 생성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에러 디버깅 · 문서 자동 작성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8"/>
          <p:cNvSpPr/>
          <p:nvPr/>
        </p:nvSpPr>
        <p:spPr>
          <a:xfrm>
            <a:off x="4663440" y="2331720"/>
            <a:ext cx="4114800" cy="118872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8"/>
          <p:cNvSpPr/>
          <p:nvPr/>
        </p:nvSpPr>
        <p:spPr>
          <a:xfrm>
            <a:off x="4663440" y="2331720"/>
            <a:ext cx="4114800" cy="320040"/>
          </a:xfrm>
          <a:prstGeom prst="rect">
            <a:avLst/>
          </a:prstGeom>
          <a:solidFill>
            <a:srgbClr val="00796B"/>
          </a:solidFill>
          <a:ln cap="flat" cmpd="sng" w="12700">
            <a:solidFill>
              <a:srgbClr val="007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8"/>
          <p:cNvSpPr/>
          <p:nvPr/>
        </p:nvSpPr>
        <p:spPr>
          <a:xfrm>
            <a:off x="4754880" y="233172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ChatGPT API (서비스 핵심)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18"/>
          <p:cNvSpPr/>
          <p:nvPr/>
        </p:nvSpPr>
        <p:spPr>
          <a:xfrm>
            <a:off x="4754880" y="2679192"/>
            <a:ext cx="3931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수치 데이터 자연어 변환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데일리 스킨케어 루틴 자동 생성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8"/>
          <p:cNvSpPr/>
          <p:nvPr/>
        </p:nvSpPr>
        <p:spPr>
          <a:xfrm>
            <a:off x="4663440" y="3657600"/>
            <a:ext cx="4114800" cy="118872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18"/>
          <p:cNvSpPr/>
          <p:nvPr/>
        </p:nvSpPr>
        <p:spPr>
          <a:xfrm>
            <a:off x="4663440" y="3657600"/>
            <a:ext cx="4114800" cy="320040"/>
          </a:xfrm>
          <a:prstGeom prst="rect">
            <a:avLst/>
          </a:prstGeom>
          <a:solidFill>
            <a:srgbClr val="00796B"/>
          </a:solidFill>
          <a:ln cap="flat" cmpd="sng" w="12700">
            <a:solidFill>
              <a:srgbClr val="007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18"/>
          <p:cNvSpPr/>
          <p:nvPr/>
        </p:nvSpPr>
        <p:spPr>
          <a:xfrm>
            <a:off x="4754880" y="365760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Claude API (서비스 핵심)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18"/>
          <p:cNvSpPr/>
          <p:nvPr/>
        </p:nvSpPr>
        <p:spPr>
          <a:xfrm>
            <a:off x="4754880" y="4005072"/>
            <a:ext cx="3931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의학 가이드라인 지식베이스 구축 (RAG)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제품 성분 적합성 고신뢰성 판별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ECEF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19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9"/>
          <p:cNvSpPr/>
          <p:nvPr/>
        </p:nvSpPr>
        <p:spPr>
          <a:xfrm>
            <a:off x="640080" y="1371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SECTION 04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19"/>
          <p:cNvSpPr/>
          <p:nvPr/>
        </p:nvSpPr>
        <p:spPr>
          <a:xfrm>
            <a:off x="640080" y="192024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프로젝트 추진 계획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9"/>
          <p:cNvSpPr/>
          <p:nvPr/>
        </p:nvSpPr>
        <p:spPr>
          <a:xfrm>
            <a:off x="640080" y="28346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Gantt 차트 · 마일스톤 · 프로토타입 계획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20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20"/>
          <p:cNvSpPr/>
          <p:nvPr/>
        </p:nvSpPr>
        <p:spPr>
          <a:xfrm>
            <a:off x="365760" y="118872"/>
            <a:ext cx="54864" cy="384048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0"/>
          <p:cNvSpPr/>
          <p:nvPr/>
        </p:nvSpPr>
        <p:spPr>
          <a:xfrm>
            <a:off x="493776" y="118872"/>
            <a:ext cx="76992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3.1  프로젝트 일정표 —  (1학기: 4월 ~ 6월)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0"/>
          <p:cNvSpPr/>
          <p:nvPr/>
        </p:nvSpPr>
        <p:spPr>
          <a:xfrm>
            <a:off x="3017520" y="594360"/>
            <a:ext cx="585216" cy="27432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0"/>
          <p:cNvSpPr/>
          <p:nvPr/>
        </p:nvSpPr>
        <p:spPr>
          <a:xfrm>
            <a:off x="3017520" y="594360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4주1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20"/>
          <p:cNvSpPr/>
          <p:nvPr/>
        </p:nvSpPr>
        <p:spPr>
          <a:xfrm>
            <a:off x="3602736" y="594360"/>
            <a:ext cx="585216" cy="27432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0"/>
          <p:cNvSpPr/>
          <p:nvPr/>
        </p:nvSpPr>
        <p:spPr>
          <a:xfrm>
            <a:off x="3602736" y="594360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4주2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0"/>
          <p:cNvSpPr/>
          <p:nvPr/>
        </p:nvSpPr>
        <p:spPr>
          <a:xfrm>
            <a:off x="4187952" y="594360"/>
            <a:ext cx="585216" cy="27432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0"/>
          <p:cNvSpPr/>
          <p:nvPr/>
        </p:nvSpPr>
        <p:spPr>
          <a:xfrm>
            <a:off x="4187952" y="594360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4주3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20"/>
          <p:cNvSpPr/>
          <p:nvPr/>
        </p:nvSpPr>
        <p:spPr>
          <a:xfrm>
            <a:off x="4773168" y="594360"/>
            <a:ext cx="585216" cy="27432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20"/>
          <p:cNvSpPr/>
          <p:nvPr/>
        </p:nvSpPr>
        <p:spPr>
          <a:xfrm>
            <a:off x="4773168" y="594360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4주4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0"/>
          <p:cNvSpPr/>
          <p:nvPr/>
        </p:nvSpPr>
        <p:spPr>
          <a:xfrm>
            <a:off x="5358384" y="594360"/>
            <a:ext cx="585216" cy="27432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0"/>
          <p:cNvSpPr/>
          <p:nvPr/>
        </p:nvSpPr>
        <p:spPr>
          <a:xfrm>
            <a:off x="5358384" y="594360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5주1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0"/>
          <p:cNvSpPr/>
          <p:nvPr/>
        </p:nvSpPr>
        <p:spPr>
          <a:xfrm>
            <a:off x="5943600" y="594360"/>
            <a:ext cx="585216" cy="27432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20"/>
          <p:cNvSpPr/>
          <p:nvPr/>
        </p:nvSpPr>
        <p:spPr>
          <a:xfrm>
            <a:off x="5943600" y="594360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5주2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20"/>
          <p:cNvSpPr/>
          <p:nvPr/>
        </p:nvSpPr>
        <p:spPr>
          <a:xfrm>
            <a:off x="6528816" y="594360"/>
            <a:ext cx="585216" cy="27432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0"/>
          <p:cNvSpPr/>
          <p:nvPr/>
        </p:nvSpPr>
        <p:spPr>
          <a:xfrm>
            <a:off x="6528816" y="594360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5주3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0"/>
          <p:cNvSpPr/>
          <p:nvPr/>
        </p:nvSpPr>
        <p:spPr>
          <a:xfrm>
            <a:off x="7114032" y="594360"/>
            <a:ext cx="585216" cy="27432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20"/>
          <p:cNvSpPr/>
          <p:nvPr/>
        </p:nvSpPr>
        <p:spPr>
          <a:xfrm>
            <a:off x="7114032" y="594360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5주4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20"/>
          <p:cNvSpPr/>
          <p:nvPr/>
        </p:nvSpPr>
        <p:spPr>
          <a:xfrm>
            <a:off x="7699248" y="594360"/>
            <a:ext cx="585216" cy="27432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20"/>
          <p:cNvSpPr/>
          <p:nvPr/>
        </p:nvSpPr>
        <p:spPr>
          <a:xfrm>
            <a:off x="7699248" y="594360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6주1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20"/>
          <p:cNvSpPr/>
          <p:nvPr/>
        </p:nvSpPr>
        <p:spPr>
          <a:xfrm>
            <a:off x="8284464" y="594360"/>
            <a:ext cx="585216" cy="27432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20"/>
          <p:cNvSpPr/>
          <p:nvPr/>
        </p:nvSpPr>
        <p:spPr>
          <a:xfrm>
            <a:off x="8284464" y="594360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6주2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0"/>
          <p:cNvSpPr/>
          <p:nvPr/>
        </p:nvSpPr>
        <p:spPr>
          <a:xfrm>
            <a:off x="274320" y="868680"/>
            <a:ext cx="1828800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0"/>
          <p:cNvSpPr/>
          <p:nvPr/>
        </p:nvSpPr>
        <p:spPr>
          <a:xfrm>
            <a:off x="320040" y="868680"/>
            <a:ext cx="1737360" cy="2994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UI/UX 디자인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20"/>
          <p:cNvSpPr/>
          <p:nvPr/>
        </p:nvSpPr>
        <p:spPr>
          <a:xfrm>
            <a:off x="2103120" y="868680"/>
            <a:ext cx="868680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20"/>
          <p:cNvSpPr/>
          <p:nvPr/>
        </p:nvSpPr>
        <p:spPr>
          <a:xfrm>
            <a:off x="2103120" y="868680"/>
            <a:ext cx="868680" cy="2994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650"/>
              <a:buFont typeface="Calibri"/>
              <a:buNone/>
            </a:pPr>
            <a:r>
              <a:rPr b="0" i="0" lang="en-US" sz="10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장여정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20"/>
          <p:cNvSpPr/>
          <p:nvPr/>
        </p:nvSpPr>
        <p:spPr>
          <a:xfrm>
            <a:off x="3017520" y="868680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0"/>
          <p:cNvSpPr/>
          <p:nvPr/>
        </p:nvSpPr>
        <p:spPr>
          <a:xfrm>
            <a:off x="3602736" y="868680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20"/>
          <p:cNvSpPr/>
          <p:nvPr/>
        </p:nvSpPr>
        <p:spPr>
          <a:xfrm>
            <a:off x="4187952" y="868680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0"/>
          <p:cNvSpPr/>
          <p:nvPr/>
        </p:nvSpPr>
        <p:spPr>
          <a:xfrm>
            <a:off x="4773168" y="868680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20"/>
          <p:cNvSpPr/>
          <p:nvPr/>
        </p:nvSpPr>
        <p:spPr>
          <a:xfrm>
            <a:off x="5358384" y="868680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0"/>
          <p:cNvSpPr/>
          <p:nvPr/>
        </p:nvSpPr>
        <p:spPr>
          <a:xfrm>
            <a:off x="5943600" y="868680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0"/>
          <p:cNvSpPr/>
          <p:nvPr/>
        </p:nvSpPr>
        <p:spPr>
          <a:xfrm>
            <a:off x="6528816" y="868680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20"/>
          <p:cNvSpPr/>
          <p:nvPr/>
        </p:nvSpPr>
        <p:spPr>
          <a:xfrm>
            <a:off x="7114032" y="868680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20"/>
          <p:cNvSpPr/>
          <p:nvPr/>
        </p:nvSpPr>
        <p:spPr>
          <a:xfrm>
            <a:off x="7699248" y="868680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20"/>
          <p:cNvSpPr/>
          <p:nvPr/>
        </p:nvSpPr>
        <p:spPr>
          <a:xfrm>
            <a:off x="8284464" y="868680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20"/>
          <p:cNvSpPr/>
          <p:nvPr/>
        </p:nvSpPr>
        <p:spPr>
          <a:xfrm>
            <a:off x="3035808" y="900206"/>
            <a:ext cx="2596896" cy="237744"/>
          </a:xfrm>
          <a:prstGeom prst="rect">
            <a:avLst/>
          </a:prstGeom>
          <a:solidFill>
            <a:srgbClr val="00796B"/>
          </a:solidFill>
          <a:ln cap="flat" cmpd="sng" w="12700">
            <a:solidFill>
              <a:srgbClr val="007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20"/>
          <p:cNvSpPr/>
          <p:nvPr/>
        </p:nvSpPr>
        <p:spPr>
          <a:xfrm>
            <a:off x="274320" y="1168146"/>
            <a:ext cx="1828800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0"/>
          <p:cNvSpPr/>
          <p:nvPr/>
        </p:nvSpPr>
        <p:spPr>
          <a:xfrm>
            <a:off x="320040" y="1168146"/>
            <a:ext cx="1737360" cy="2994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데이터 수집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20"/>
          <p:cNvSpPr/>
          <p:nvPr/>
        </p:nvSpPr>
        <p:spPr>
          <a:xfrm>
            <a:off x="2103120" y="1168146"/>
            <a:ext cx="868680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20"/>
          <p:cNvSpPr/>
          <p:nvPr/>
        </p:nvSpPr>
        <p:spPr>
          <a:xfrm>
            <a:off x="2103120" y="1168146"/>
            <a:ext cx="868680" cy="2994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650"/>
              <a:buFont typeface="Calibri"/>
              <a:buNone/>
            </a:pPr>
            <a:r>
              <a:rPr b="0" i="0" lang="en-US" sz="10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조정인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0"/>
          <p:cNvSpPr/>
          <p:nvPr/>
        </p:nvSpPr>
        <p:spPr>
          <a:xfrm>
            <a:off x="3017520" y="1168146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0"/>
          <p:cNvSpPr/>
          <p:nvPr/>
        </p:nvSpPr>
        <p:spPr>
          <a:xfrm>
            <a:off x="3602736" y="1168146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0"/>
          <p:cNvSpPr/>
          <p:nvPr/>
        </p:nvSpPr>
        <p:spPr>
          <a:xfrm>
            <a:off x="4187952" y="1168146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20"/>
          <p:cNvSpPr/>
          <p:nvPr/>
        </p:nvSpPr>
        <p:spPr>
          <a:xfrm>
            <a:off x="4773168" y="1168146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20"/>
          <p:cNvSpPr/>
          <p:nvPr/>
        </p:nvSpPr>
        <p:spPr>
          <a:xfrm>
            <a:off x="5358384" y="1168146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20"/>
          <p:cNvSpPr/>
          <p:nvPr/>
        </p:nvSpPr>
        <p:spPr>
          <a:xfrm>
            <a:off x="5943600" y="1168146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20"/>
          <p:cNvSpPr/>
          <p:nvPr/>
        </p:nvSpPr>
        <p:spPr>
          <a:xfrm>
            <a:off x="6528816" y="1168146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20"/>
          <p:cNvSpPr/>
          <p:nvPr/>
        </p:nvSpPr>
        <p:spPr>
          <a:xfrm>
            <a:off x="7114032" y="1168146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20"/>
          <p:cNvSpPr/>
          <p:nvPr/>
        </p:nvSpPr>
        <p:spPr>
          <a:xfrm>
            <a:off x="7699248" y="1168146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20"/>
          <p:cNvSpPr/>
          <p:nvPr/>
        </p:nvSpPr>
        <p:spPr>
          <a:xfrm>
            <a:off x="8284464" y="1168146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20"/>
          <p:cNvSpPr/>
          <p:nvPr/>
        </p:nvSpPr>
        <p:spPr>
          <a:xfrm>
            <a:off x="3035808" y="1199672"/>
            <a:ext cx="621792" cy="237744"/>
          </a:xfrm>
          <a:prstGeom prst="rect">
            <a:avLst/>
          </a:prstGeom>
          <a:solidFill>
            <a:srgbClr val="00796B"/>
          </a:solidFill>
          <a:ln cap="flat" cmpd="sng" w="12700">
            <a:solidFill>
              <a:srgbClr val="007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20"/>
          <p:cNvSpPr/>
          <p:nvPr/>
        </p:nvSpPr>
        <p:spPr>
          <a:xfrm>
            <a:off x="274320" y="1467612"/>
            <a:ext cx="1828800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20"/>
          <p:cNvSpPr/>
          <p:nvPr/>
        </p:nvSpPr>
        <p:spPr>
          <a:xfrm>
            <a:off x="320040" y="1467612"/>
            <a:ext cx="1737360" cy="2994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알고리즘 1차 (OpenCV)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20"/>
          <p:cNvSpPr/>
          <p:nvPr/>
        </p:nvSpPr>
        <p:spPr>
          <a:xfrm>
            <a:off x="2103120" y="1467612"/>
            <a:ext cx="868680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20"/>
          <p:cNvSpPr/>
          <p:nvPr/>
        </p:nvSpPr>
        <p:spPr>
          <a:xfrm>
            <a:off x="2103120" y="1467612"/>
            <a:ext cx="868680" cy="2994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650"/>
              <a:buFont typeface="Calibri"/>
              <a:buNone/>
            </a:pPr>
            <a:r>
              <a:rPr b="0" i="0" lang="en-US" sz="10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유소희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20"/>
          <p:cNvSpPr/>
          <p:nvPr/>
        </p:nvSpPr>
        <p:spPr>
          <a:xfrm>
            <a:off x="3017520" y="1467612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20"/>
          <p:cNvSpPr/>
          <p:nvPr/>
        </p:nvSpPr>
        <p:spPr>
          <a:xfrm>
            <a:off x="3602736" y="1467612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20"/>
          <p:cNvSpPr/>
          <p:nvPr/>
        </p:nvSpPr>
        <p:spPr>
          <a:xfrm>
            <a:off x="4187952" y="1467612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20"/>
          <p:cNvSpPr/>
          <p:nvPr/>
        </p:nvSpPr>
        <p:spPr>
          <a:xfrm>
            <a:off x="4773168" y="1467612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20"/>
          <p:cNvSpPr/>
          <p:nvPr/>
        </p:nvSpPr>
        <p:spPr>
          <a:xfrm>
            <a:off x="5358384" y="1467612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0"/>
          <p:cNvSpPr/>
          <p:nvPr/>
        </p:nvSpPr>
        <p:spPr>
          <a:xfrm>
            <a:off x="5943600" y="1467612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20"/>
          <p:cNvSpPr/>
          <p:nvPr/>
        </p:nvSpPr>
        <p:spPr>
          <a:xfrm>
            <a:off x="6528816" y="1467612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20"/>
          <p:cNvSpPr/>
          <p:nvPr/>
        </p:nvSpPr>
        <p:spPr>
          <a:xfrm>
            <a:off x="7114032" y="1467612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20"/>
          <p:cNvSpPr/>
          <p:nvPr/>
        </p:nvSpPr>
        <p:spPr>
          <a:xfrm>
            <a:off x="7699248" y="1467612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20"/>
          <p:cNvSpPr/>
          <p:nvPr/>
        </p:nvSpPr>
        <p:spPr>
          <a:xfrm>
            <a:off x="8284464" y="1467612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20"/>
          <p:cNvSpPr/>
          <p:nvPr/>
        </p:nvSpPr>
        <p:spPr>
          <a:xfrm>
            <a:off x="3035808" y="1499138"/>
            <a:ext cx="621792" cy="237744"/>
          </a:xfrm>
          <a:prstGeom prst="rect">
            <a:avLst/>
          </a:prstGeom>
          <a:solidFill>
            <a:srgbClr val="00796B"/>
          </a:solidFill>
          <a:ln cap="flat" cmpd="sng" w="12700">
            <a:solidFill>
              <a:srgbClr val="007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20"/>
          <p:cNvSpPr/>
          <p:nvPr/>
        </p:nvSpPr>
        <p:spPr>
          <a:xfrm>
            <a:off x="274320" y="1767078"/>
            <a:ext cx="1828800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20"/>
          <p:cNvSpPr/>
          <p:nvPr/>
        </p:nvSpPr>
        <p:spPr>
          <a:xfrm>
            <a:off x="320040" y="1767078"/>
            <a:ext cx="1737360" cy="2994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기획서 발표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20"/>
          <p:cNvSpPr/>
          <p:nvPr/>
        </p:nvSpPr>
        <p:spPr>
          <a:xfrm>
            <a:off x="2103120" y="1767078"/>
            <a:ext cx="868680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20"/>
          <p:cNvSpPr/>
          <p:nvPr/>
        </p:nvSpPr>
        <p:spPr>
          <a:xfrm>
            <a:off x="2103120" y="1767078"/>
            <a:ext cx="868680" cy="2994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650"/>
              <a:buFont typeface="Calibri"/>
              <a:buNone/>
            </a:pPr>
            <a:r>
              <a:rPr b="0" i="0" lang="en-US" sz="10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전원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20"/>
          <p:cNvSpPr/>
          <p:nvPr/>
        </p:nvSpPr>
        <p:spPr>
          <a:xfrm>
            <a:off x="3017520" y="1767078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20"/>
          <p:cNvSpPr/>
          <p:nvPr/>
        </p:nvSpPr>
        <p:spPr>
          <a:xfrm>
            <a:off x="3602736" y="1767078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20"/>
          <p:cNvSpPr/>
          <p:nvPr/>
        </p:nvSpPr>
        <p:spPr>
          <a:xfrm>
            <a:off x="4187952" y="1767078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20"/>
          <p:cNvSpPr/>
          <p:nvPr/>
        </p:nvSpPr>
        <p:spPr>
          <a:xfrm>
            <a:off x="4773168" y="1767078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20"/>
          <p:cNvSpPr/>
          <p:nvPr/>
        </p:nvSpPr>
        <p:spPr>
          <a:xfrm>
            <a:off x="5358384" y="1767078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20"/>
          <p:cNvSpPr/>
          <p:nvPr/>
        </p:nvSpPr>
        <p:spPr>
          <a:xfrm>
            <a:off x="5943600" y="1767078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20"/>
          <p:cNvSpPr/>
          <p:nvPr/>
        </p:nvSpPr>
        <p:spPr>
          <a:xfrm>
            <a:off x="6528816" y="1767078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20"/>
          <p:cNvSpPr/>
          <p:nvPr/>
        </p:nvSpPr>
        <p:spPr>
          <a:xfrm>
            <a:off x="7114032" y="1767078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20"/>
          <p:cNvSpPr/>
          <p:nvPr/>
        </p:nvSpPr>
        <p:spPr>
          <a:xfrm>
            <a:off x="7699248" y="1767078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20"/>
          <p:cNvSpPr/>
          <p:nvPr/>
        </p:nvSpPr>
        <p:spPr>
          <a:xfrm>
            <a:off x="8284464" y="1767078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20"/>
          <p:cNvSpPr/>
          <p:nvPr/>
        </p:nvSpPr>
        <p:spPr>
          <a:xfrm>
            <a:off x="5010912" y="1798604"/>
            <a:ext cx="621792" cy="237744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20"/>
          <p:cNvSpPr/>
          <p:nvPr/>
        </p:nvSpPr>
        <p:spPr>
          <a:xfrm>
            <a:off x="274320" y="2066544"/>
            <a:ext cx="1828800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20"/>
          <p:cNvSpPr/>
          <p:nvPr/>
        </p:nvSpPr>
        <p:spPr>
          <a:xfrm>
            <a:off x="320040" y="2066544"/>
            <a:ext cx="1737360" cy="2994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나이대별 폴더 구조화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20"/>
          <p:cNvSpPr/>
          <p:nvPr/>
        </p:nvSpPr>
        <p:spPr>
          <a:xfrm>
            <a:off x="2103120" y="2066544"/>
            <a:ext cx="868680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20"/>
          <p:cNvSpPr/>
          <p:nvPr/>
        </p:nvSpPr>
        <p:spPr>
          <a:xfrm>
            <a:off x="2103120" y="2066544"/>
            <a:ext cx="868680" cy="2994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650"/>
              <a:buFont typeface="Calibri"/>
              <a:buNone/>
            </a:pPr>
            <a:r>
              <a:rPr b="0" i="0" lang="en-US" sz="10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조정인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20"/>
          <p:cNvSpPr/>
          <p:nvPr/>
        </p:nvSpPr>
        <p:spPr>
          <a:xfrm>
            <a:off x="3017520" y="2066544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20"/>
          <p:cNvSpPr/>
          <p:nvPr/>
        </p:nvSpPr>
        <p:spPr>
          <a:xfrm>
            <a:off x="3602736" y="2066544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20"/>
          <p:cNvSpPr/>
          <p:nvPr/>
        </p:nvSpPr>
        <p:spPr>
          <a:xfrm>
            <a:off x="4187952" y="2066544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20"/>
          <p:cNvSpPr/>
          <p:nvPr/>
        </p:nvSpPr>
        <p:spPr>
          <a:xfrm>
            <a:off x="4773168" y="2066544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20"/>
          <p:cNvSpPr/>
          <p:nvPr/>
        </p:nvSpPr>
        <p:spPr>
          <a:xfrm>
            <a:off x="5358384" y="2066544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20"/>
          <p:cNvSpPr/>
          <p:nvPr/>
        </p:nvSpPr>
        <p:spPr>
          <a:xfrm>
            <a:off x="5943600" y="2066544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20"/>
          <p:cNvSpPr/>
          <p:nvPr/>
        </p:nvSpPr>
        <p:spPr>
          <a:xfrm>
            <a:off x="6528816" y="2066544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20"/>
          <p:cNvSpPr/>
          <p:nvPr/>
        </p:nvSpPr>
        <p:spPr>
          <a:xfrm>
            <a:off x="7114032" y="2066544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20"/>
          <p:cNvSpPr/>
          <p:nvPr/>
        </p:nvSpPr>
        <p:spPr>
          <a:xfrm>
            <a:off x="7699248" y="2066544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20"/>
          <p:cNvSpPr/>
          <p:nvPr/>
        </p:nvSpPr>
        <p:spPr>
          <a:xfrm>
            <a:off x="8284464" y="2066544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20"/>
          <p:cNvSpPr/>
          <p:nvPr/>
        </p:nvSpPr>
        <p:spPr>
          <a:xfrm>
            <a:off x="5669280" y="2098070"/>
            <a:ext cx="621792" cy="237744"/>
          </a:xfrm>
          <a:prstGeom prst="rect">
            <a:avLst/>
          </a:prstGeom>
          <a:solidFill>
            <a:srgbClr val="B0BEC5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20"/>
          <p:cNvSpPr/>
          <p:nvPr/>
        </p:nvSpPr>
        <p:spPr>
          <a:xfrm>
            <a:off x="274320" y="2366010"/>
            <a:ext cx="1828800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20"/>
          <p:cNvSpPr/>
          <p:nvPr/>
        </p:nvSpPr>
        <p:spPr>
          <a:xfrm>
            <a:off x="320040" y="2366010"/>
            <a:ext cx="1737360" cy="2994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API 서버 기초 (FastAPI)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20"/>
          <p:cNvSpPr/>
          <p:nvPr/>
        </p:nvSpPr>
        <p:spPr>
          <a:xfrm>
            <a:off x="2103120" y="2366010"/>
            <a:ext cx="868680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20"/>
          <p:cNvSpPr/>
          <p:nvPr/>
        </p:nvSpPr>
        <p:spPr>
          <a:xfrm>
            <a:off x="2103120" y="2366010"/>
            <a:ext cx="868680" cy="2994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650"/>
              <a:buFont typeface="Calibri"/>
              <a:buNone/>
            </a:pPr>
            <a:r>
              <a:rPr b="0" i="0" lang="en-US" sz="10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현예진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20"/>
          <p:cNvSpPr/>
          <p:nvPr/>
        </p:nvSpPr>
        <p:spPr>
          <a:xfrm>
            <a:off x="3017520" y="2366010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20"/>
          <p:cNvSpPr/>
          <p:nvPr/>
        </p:nvSpPr>
        <p:spPr>
          <a:xfrm>
            <a:off x="3602736" y="2366010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20"/>
          <p:cNvSpPr/>
          <p:nvPr/>
        </p:nvSpPr>
        <p:spPr>
          <a:xfrm>
            <a:off x="4187952" y="2366010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20"/>
          <p:cNvSpPr/>
          <p:nvPr/>
        </p:nvSpPr>
        <p:spPr>
          <a:xfrm>
            <a:off x="4773168" y="2366010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20"/>
          <p:cNvSpPr/>
          <p:nvPr/>
        </p:nvSpPr>
        <p:spPr>
          <a:xfrm>
            <a:off x="5358384" y="2366010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20"/>
          <p:cNvSpPr/>
          <p:nvPr/>
        </p:nvSpPr>
        <p:spPr>
          <a:xfrm>
            <a:off x="5943600" y="2366010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20"/>
          <p:cNvSpPr/>
          <p:nvPr/>
        </p:nvSpPr>
        <p:spPr>
          <a:xfrm>
            <a:off x="6528816" y="2366010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20"/>
          <p:cNvSpPr/>
          <p:nvPr/>
        </p:nvSpPr>
        <p:spPr>
          <a:xfrm>
            <a:off x="7114032" y="2366010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20"/>
          <p:cNvSpPr/>
          <p:nvPr/>
        </p:nvSpPr>
        <p:spPr>
          <a:xfrm>
            <a:off x="7699248" y="2366010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20"/>
          <p:cNvSpPr/>
          <p:nvPr/>
        </p:nvSpPr>
        <p:spPr>
          <a:xfrm>
            <a:off x="8284464" y="2366010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20"/>
          <p:cNvSpPr/>
          <p:nvPr/>
        </p:nvSpPr>
        <p:spPr>
          <a:xfrm>
            <a:off x="5669280" y="2397536"/>
            <a:ext cx="1280160" cy="237744"/>
          </a:xfrm>
          <a:prstGeom prst="rect">
            <a:avLst/>
          </a:prstGeom>
          <a:solidFill>
            <a:srgbClr val="B0BEC5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20"/>
          <p:cNvSpPr/>
          <p:nvPr/>
        </p:nvSpPr>
        <p:spPr>
          <a:xfrm>
            <a:off x="274320" y="2665476"/>
            <a:ext cx="1828800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20"/>
          <p:cNvSpPr/>
          <p:nvPr/>
        </p:nvSpPr>
        <p:spPr>
          <a:xfrm>
            <a:off x="320040" y="2665476"/>
            <a:ext cx="1737360" cy="2994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지식베이스 구축 (LLM)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20"/>
          <p:cNvSpPr/>
          <p:nvPr/>
        </p:nvSpPr>
        <p:spPr>
          <a:xfrm>
            <a:off x="2103120" y="2665476"/>
            <a:ext cx="868680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20"/>
          <p:cNvSpPr/>
          <p:nvPr/>
        </p:nvSpPr>
        <p:spPr>
          <a:xfrm>
            <a:off x="2103120" y="2665476"/>
            <a:ext cx="868680" cy="2994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650"/>
              <a:buFont typeface="Calibri"/>
              <a:buNone/>
            </a:pPr>
            <a:r>
              <a:rPr b="0" i="0" lang="en-US" sz="10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이윤석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20"/>
          <p:cNvSpPr/>
          <p:nvPr/>
        </p:nvSpPr>
        <p:spPr>
          <a:xfrm>
            <a:off x="3017520" y="2665476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20"/>
          <p:cNvSpPr/>
          <p:nvPr/>
        </p:nvSpPr>
        <p:spPr>
          <a:xfrm>
            <a:off x="3602736" y="2665476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20"/>
          <p:cNvSpPr/>
          <p:nvPr/>
        </p:nvSpPr>
        <p:spPr>
          <a:xfrm>
            <a:off x="4187952" y="2665476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20"/>
          <p:cNvSpPr/>
          <p:nvPr/>
        </p:nvSpPr>
        <p:spPr>
          <a:xfrm>
            <a:off x="4773168" y="2665476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20"/>
          <p:cNvSpPr/>
          <p:nvPr/>
        </p:nvSpPr>
        <p:spPr>
          <a:xfrm>
            <a:off x="5358384" y="2665476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20"/>
          <p:cNvSpPr/>
          <p:nvPr/>
        </p:nvSpPr>
        <p:spPr>
          <a:xfrm>
            <a:off x="5943600" y="2665476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20"/>
          <p:cNvSpPr/>
          <p:nvPr/>
        </p:nvSpPr>
        <p:spPr>
          <a:xfrm>
            <a:off x="6528816" y="2665476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20"/>
          <p:cNvSpPr/>
          <p:nvPr/>
        </p:nvSpPr>
        <p:spPr>
          <a:xfrm>
            <a:off x="7114032" y="2665476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20"/>
          <p:cNvSpPr/>
          <p:nvPr/>
        </p:nvSpPr>
        <p:spPr>
          <a:xfrm>
            <a:off x="7699248" y="2665476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20"/>
          <p:cNvSpPr/>
          <p:nvPr/>
        </p:nvSpPr>
        <p:spPr>
          <a:xfrm>
            <a:off x="8284464" y="2665476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20"/>
          <p:cNvSpPr/>
          <p:nvPr/>
        </p:nvSpPr>
        <p:spPr>
          <a:xfrm>
            <a:off x="5669280" y="2697002"/>
            <a:ext cx="1280160" cy="237744"/>
          </a:xfrm>
          <a:prstGeom prst="rect">
            <a:avLst/>
          </a:prstGeom>
          <a:solidFill>
            <a:srgbClr val="B0BEC5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20"/>
          <p:cNvSpPr/>
          <p:nvPr/>
        </p:nvSpPr>
        <p:spPr>
          <a:xfrm>
            <a:off x="274320" y="2964942"/>
            <a:ext cx="1828800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20"/>
          <p:cNvSpPr/>
          <p:nvPr/>
        </p:nvSpPr>
        <p:spPr>
          <a:xfrm>
            <a:off x="320040" y="2964942"/>
            <a:ext cx="1737360" cy="2994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OpenCV 검증+여드름 라벨링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20"/>
          <p:cNvSpPr/>
          <p:nvPr/>
        </p:nvSpPr>
        <p:spPr>
          <a:xfrm>
            <a:off x="2103120" y="2964942"/>
            <a:ext cx="868680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20"/>
          <p:cNvSpPr/>
          <p:nvPr/>
        </p:nvSpPr>
        <p:spPr>
          <a:xfrm>
            <a:off x="2103120" y="2964942"/>
            <a:ext cx="868680" cy="2994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650"/>
              <a:buFont typeface="Calibri"/>
              <a:buNone/>
            </a:pPr>
            <a:r>
              <a:rPr b="0" i="0" lang="en-US" sz="10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유소희·조정인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20"/>
          <p:cNvSpPr/>
          <p:nvPr/>
        </p:nvSpPr>
        <p:spPr>
          <a:xfrm>
            <a:off x="3017520" y="2964942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20"/>
          <p:cNvSpPr/>
          <p:nvPr/>
        </p:nvSpPr>
        <p:spPr>
          <a:xfrm>
            <a:off x="3602736" y="2964942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20"/>
          <p:cNvSpPr/>
          <p:nvPr/>
        </p:nvSpPr>
        <p:spPr>
          <a:xfrm>
            <a:off x="4187952" y="2964942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20"/>
          <p:cNvSpPr/>
          <p:nvPr/>
        </p:nvSpPr>
        <p:spPr>
          <a:xfrm>
            <a:off x="4773168" y="2964942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20"/>
          <p:cNvSpPr/>
          <p:nvPr/>
        </p:nvSpPr>
        <p:spPr>
          <a:xfrm>
            <a:off x="5358384" y="2964942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20"/>
          <p:cNvSpPr/>
          <p:nvPr/>
        </p:nvSpPr>
        <p:spPr>
          <a:xfrm>
            <a:off x="5943600" y="2964942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20"/>
          <p:cNvSpPr/>
          <p:nvPr/>
        </p:nvSpPr>
        <p:spPr>
          <a:xfrm>
            <a:off x="6528816" y="2964942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20"/>
          <p:cNvSpPr/>
          <p:nvPr/>
        </p:nvSpPr>
        <p:spPr>
          <a:xfrm>
            <a:off x="7114032" y="2964942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20"/>
          <p:cNvSpPr/>
          <p:nvPr/>
        </p:nvSpPr>
        <p:spPr>
          <a:xfrm>
            <a:off x="7699248" y="2964942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20"/>
          <p:cNvSpPr/>
          <p:nvPr/>
        </p:nvSpPr>
        <p:spPr>
          <a:xfrm>
            <a:off x="8284464" y="2964942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20"/>
          <p:cNvSpPr/>
          <p:nvPr/>
        </p:nvSpPr>
        <p:spPr>
          <a:xfrm>
            <a:off x="5669280" y="2996468"/>
            <a:ext cx="1280160" cy="237744"/>
          </a:xfrm>
          <a:prstGeom prst="rect">
            <a:avLst/>
          </a:prstGeom>
          <a:solidFill>
            <a:srgbClr val="B0BEC5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20"/>
          <p:cNvSpPr/>
          <p:nvPr/>
        </p:nvSpPr>
        <p:spPr>
          <a:xfrm>
            <a:off x="274320" y="3264408"/>
            <a:ext cx="1828800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20"/>
          <p:cNvSpPr/>
          <p:nvPr/>
        </p:nvSpPr>
        <p:spPr>
          <a:xfrm>
            <a:off x="320040" y="3264408"/>
            <a:ext cx="1737360" cy="2994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중간보고 발표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20"/>
          <p:cNvSpPr/>
          <p:nvPr/>
        </p:nvSpPr>
        <p:spPr>
          <a:xfrm>
            <a:off x="2103120" y="3264408"/>
            <a:ext cx="868680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20"/>
          <p:cNvSpPr/>
          <p:nvPr/>
        </p:nvSpPr>
        <p:spPr>
          <a:xfrm>
            <a:off x="2103120" y="3264408"/>
            <a:ext cx="868680" cy="2994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650"/>
              <a:buFont typeface="Calibri"/>
              <a:buNone/>
            </a:pPr>
            <a:r>
              <a:rPr b="0" i="0" lang="en-US" sz="10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전원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20"/>
          <p:cNvSpPr/>
          <p:nvPr/>
        </p:nvSpPr>
        <p:spPr>
          <a:xfrm>
            <a:off x="3017520" y="3264408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20"/>
          <p:cNvSpPr/>
          <p:nvPr/>
        </p:nvSpPr>
        <p:spPr>
          <a:xfrm>
            <a:off x="3602736" y="3264408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20"/>
          <p:cNvSpPr/>
          <p:nvPr/>
        </p:nvSpPr>
        <p:spPr>
          <a:xfrm>
            <a:off x="4187952" y="3264408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20"/>
          <p:cNvSpPr/>
          <p:nvPr/>
        </p:nvSpPr>
        <p:spPr>
          <a:xfrm>
            <a:off x="4773168" y="3264408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20"/>
          <p:cNvSpPr/>
          <p:nvPr/>
        </p:nvSpPr>
        <p:spPr>
          <a:xfrm>
            <a:off x="5358384" y="3264408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20"/>
          <p:cNvSpPr/>
          <p:nvPr/>
        </p:nvSpPr>
        <p:spPr>
          <a:xfrm>
            <a:off x="5943600" y="3264408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20"/>
          <p:cNvSpPr/>
          <p:nvPr/>
        </p:nvSpPr>
        <p:spPr>
          <a:xfrm>
            <a:off x="6528816" y="3264408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20"/>
          <p:cNvSpPr/>
          <p:nvPr/>
        </p:nvSpPr>
        <p:spPr>
          <a:xfrm>
            <a:off x="7114032" y="3264408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20"/>
          <p:cNvSpPr/>
          <p:nvPr/>
        </p:nvSpPr>
        <p:spPr>
          <a:xfrm>
            <a:off x="7699248" y="3264408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20"/>
          <p:cNvSpPr/>
          <p:nvPr/>
        </p:nvSpPr>
        <p:spPr>
          <a:xfrm>
            <a:off x="8284464" y="3264408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20"/>
          <p:cNvSpPr/>
          <p:nvPr/>
        </p:nvSpPr>
        <p:spPr>
          <a:xfrm>
            <a:off x="6327648" y="3295934"/>
            <a:ext cx="621792" cy="237744"/>
          </a:xfrm>
          <a:prstGeom prst="rect">
            <a:avLst/>
          </a:prstGeom>
          <a:solidFill>
            <a:srgbClr val="B0BEC5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20"/>
          <p:cNvSpPr/>
          <p:nvPr/>
        </p:nvSpPr>
        <p:spPr>
          <a:xfrm>
            <a:off x="274320" y="3563874"/>
            <a:ext cx="1828800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20"/>
          <p:cNvSpPr/>
          <p:nvPr/>
        </p:nvSpPr>
        <p:spPr>
          <a:xfrm>
            <a:off x="320040" y="3563874"/>
            <a:ext cx="1737360" cy="2994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YOLOv8 여드름 모델 학습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20"/>
          <p:cNvSpPr/>
          <p:nvPr/>
        </p:nvSpPr>
        <p:spPr>
          <a:xfrm>
            <a:off x="2103120" y="3563874"/>
            <a:ext cx="868680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20"/>
          <p:cNvSpPr/>
          <p:nvPr/>
        </p:nvSpPr>
        <p:spPr>
          <a:xfrm>
            <a:off x="2103120" y="3563874"/>
            <a:ext cx="868680" cy="2994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650"/>
              <a:buFont typeface="Calibri"/>
              <a:buNone/>
            </a:pPr>
            <a:r>
              <a:rPr b="0" i="0" lang="en-US" sz="10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유소희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20"/>
          <p:cNvSpPr/>
          <p:nvPr/>
        </p:nvSpPr>
        <p:spPr>
          <a:xfrm>
            <a:off x="3017520" y="3563874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20"/>
          <p:cNvSpPr/>
          <p:nvPr/>
        </p:nvSpPr>
        <p:spPr>
          <a:xfrm>
            <a:off x="3602736" y="3563874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20"/>
          <p:cNvSpPr/>
          <p:nvPr/>
        </p:nvSpPr>
        <p:spPr>
          <a:xfrm>
            <a:off x="4187952" y="3563874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20"/>
          <p:cNvSpPr/>
          <p:nvPr/>
        </p:nvSpPr>
        <p:spPr>
          <a:xfrm>
            <a:off x="4773168" y="3563874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20"/>
          <p:cNvSpPr/>
          <p:nvPr/>
        </p:nvSpPr>
        <p:spPr>
          <a:xfrm>
            <a:off x="5358384" y="3563874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20"/>
          <p:cNvSpPr/>
          <p:nvPr/>
        </p:nvSpPr>
        <p:spPr>
          <a:xfrm>
            <a:off x="5943600" y="3563874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20"/>
          <p:cNvSpPr/>
          <p:nvPr/>
        </p:nvSpPr>
        <p:spPr>
          <a:xfrm>
            <a:off x="6528816" y="3563874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20"/>
          <p:cNvSpPr/>
          <p:nvPr/>
        </p:nvSpPr>
        <p:spPr>
          <a:xfrm>
            <a:off x="7114032" y="3563874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20"/>
          <p:cNvSpPr/>
          <p:nvPr/>
        </p:nvSpPr>
        <p:spPr>
          <a:xfrm>
            <a:off x="7699248" y="3563874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20"/>
          <p:cNvSpPr/>
          <p:nvPr/>
        </p:nvSpPr>
        <p:spPr>
          <a:xfrm>
            <a:off x="8284464" y="3563874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20"/>
          <p:cNvSpPr/>
          <p:nvPr/>
        </p:nvSpPr>
        <p:spPr>
          <a:xfrm>
            <a:off x="6327648" y="3595400"/>
            <a:ext cx="1938528" cy="237744"/>
          </a:xfrm>
          <a:prstGeom prst="rect">
            <a:avLst/>
          </a:prstGeom>
          <a:solidFill>
            <a:srgbClr val="B0BEC5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20"/>
          <p:cNvSpPr/>
          <p:nvPr/>
        </p:nvSpPr>
        <p:spPr>
          <a:xfrm>
            <a:off x="274320" y="3863340"/>
            <a:ext cx="1828800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20"/>
          <p:cNvSpPr/>
          <p:nvPr/>
        </p:nvSpPr>
        <p:spPr>
          <a:xfrm>
            <a:off x="320040" y="3863340"/>
            <a:ext cx="1737360" cy="2994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안드로이드-API 연동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20"/>
          <p:cNvSpPr/>
          <p:nvPr/>
        </p:nvSpPr>
        <p:spPr>
          <a:xfrm>
            <a:off x="2103120" y="3863340"/>
            <a:ext cx="868680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20"/>
          <p:cNvSpPr/>
          <p:nvPr/>
        </p:nvSpPr>
        <p:spPr>
          <a:xfrm>
            <a:off x="2103120" y="3863340"/>
            <a:ext cx="868680" cy="2994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650"/>
              <a:buFont typeface="Calibri"/>
              <a:buNone/>
            </a:pPr>
            <a:r>
              <a:rPr b="0" i="0" lang="en-US" sz="85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장여정·현예진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20"/>
          <p:cNvSpPr/>
          <p:nvPr/>
        </p:nvSpPr>
        <p:spPr>
          <a:xfrm>
            <a:off x="3017520" y="3863340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20"/>
          <p:cNvSpPr/>
          <p:nvPr/>
        </p:nvSpPr>
        <p:spPr>
          <a:xfrm>
            <a:off x="3602736" y="3863340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20"/>
          <p:cNvSpPr/>
          <p:nvPr/>
        </p:nvSpPr>
        <p:spPr>
          <a:xfrm>
            <a:off x="4187952" y="3863340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20"/>
          <p:cNvSpPr/>
          <p:nvPr/>
        </p:nvSpPr>
        <p:spPr>
          <a:xfrm>
            <a:off x="4773168" y="3863340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20"/>
          <p:cNvSpPr/>
          <p:nvPr/>
        </p:nvSpPr>
        <p:spPr>
          <a:xfrm>
            <a:off x="5358384" y="3863340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20"/>
          <p:cNvSpPr/>
          <p:nvPr/>
        </p:nvSpPr>
        <p:spPr>
          <a:xfrm>
            <a:off x="5943600" y="3863340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20"/>
          <p:cNvSpPr/>
          <p:nvPr/>
        </p:nvSpPr>
        <p:spPr>
          <a:xfrm>
            <a:off x="6528816" y="3863340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20"/>
          <p:cNvSpPr/>
          <p:nvPr/>
        </p:nvSpPr>
        <p:spPr>
          <a:xfrm>
            <a:off x="7114032" y="3863340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20"/>
          <p:cNvSpPr/>
          <p:nvPr/>
        </p:nvSpPr>
        <p:spPr>
          <a:xfrm>
            <a:off x="7699248" y="3863340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20"/>
          <p:cNvSpPr/>
          <p:nvPr/>
        </p:nvSpPr>
        <p:spPr>
          <a:xfrm>
            <a:off x="8284464" y="3863340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20"/>
          <p:cNvSpPr/>
          <p:nvPr/>
        </p:nvSpPr>
        <p:spPr>
          <a:xfrm>
            <a:off x="6986016" y="3894866"/>
            <a:ext cx="1280160" cy="237744"/>
          </a:xfrm>
          <a:prstGeom prst="rect">
            <a:avLst/>
          </a:prstGeom>
          <a:solidFill>
            <a:srgbClr val="B0BEC5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20"/>
          <p:cNvSpPr/>
          <p:nvPr/>
        </p:nvSpPr>
        <p:spPr>
          <a:xfrm>
            <a:off x="274320" y="4162806"/>
            <a:ext cx="1828800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20"/>
          <p:cNvSpPr/>
          <p:nvPr/>
        </p:nvSpPr>
        <p:spPr>
          <a:xfrm>
            <a:off x="320040" y="4162806"/>
            <a:ext cx="1737360" cy="2994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LLM 리포트 완성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20"/>
          <p:cNvSpPr/>
          <p:nvPr/>
        </p:nvSpPr>
        <p:spPr>
          <a:xfrm>
            <a:off x="2103120" y="4162806"/>
            <a:ext cx="868680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20"/>
          <p:cNvSpPr/>
          <p:nvPr/>
        </p:nvSpPr>
        <p:spPr>
          <a:xfrm>
            <a:off x="2103120" y="4162806"/>
            <a:ext cx="868680" cy="2994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650"/>
              <a:buFont typeface="Calibri"/>
              <a:buNone/>
            </a:pPr>
            <a:r>
              <a:rPr b="0" i="0" lang="en-US" sz="85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이윤석·장여정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20"/>
          <p:cNvSpPr/>
          <p:nvPr/>
        </p:nvSpPr>
        <p:spPr>
          <a:xfrm>
            <a:off x="3017520" y="4162806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20"/>
          <p:cNvSpPr/>
          <p:nvPr/>
        </p:nvSpPr>
        <p:spPr>
          <a:xfrm>
            <a:off x="3602736" y="4162806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20"/>
          <p:cNvSpPr/>
          <p:nvPr/>
        </p:nvSpPr>
        <p:spPr>
          <a:xfrm>
            <a:off x="4187952" y="4162806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20"/>
          <p:cNvSpPr/>
          <p:nvPr/>
        </p:nvSpPr>
        <p:spPr>
          <a:xfrm>
            <a:off x="4773168" y="4162806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20"/>
          <p:cNvSpPr/>
          <p:nvPr/>
        </p:nvSpPr>
        <p:spPr>
          <a:xfrm>
            <a:off x="5358384" y="4162806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20"/>
          <p:cNvSpPr/>
          <p:nvPr/>
        </p:nvSpPr>
        <p:spPr>
          <a:xfrm>
            <a:off x="5943600" y="4162806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20"/>
          <p:cNvSpPr/>
          <p:nvPr/>
        </p:nvSpPr>
        <p:spPr>
          <a:xfrm>
            <a:off x="6528816" y="4162806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20"/>
          <p:cNvSpPr/>
          <p:nvPr/>
        </p:nvSpPr>
        <p:spPr>
          <a:xfrm>
            <a:off x="7114032" y="4162806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20"/>
          <p:cNvSpPr/>
          <p:nvPr/>
        </p:nvSpPr>
        <p:spPr>
          <a:xfrm>
            <a:off x="7699248" y="4162806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20"/>
          <p:cNvSpPr/>
          <p:nvPr/>
        </p:nvSpPr>
        <p:spPr>
          <a:xfrm>
            <a:off x="8284464" y="4162806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20"/>
          <p:cNvSpPr/>
          <p:nvPr/>
        </p:nvSpPr>
        <p:spPr>
          <a:xfrm>
            <a:off x="6986016" y="4194332"/>
            <a:ext cx="1280160" cy="237744"/>
          </a:xfrm>
          <a:prstGeom prst="rect">
            <a:avLst/>
          </a:prstGeom>
          <a:solidFill>
            <a:srgbClr val="B0BEC5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20"/>
          <p:cNvSpPr/>
          <p:nvPr/>
        </p:nvSpPr>
        <p:spPr>
          <a:xfrm>
            <a:off x="274320" y="4462272"/>
            <a:ext cx="1828800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20"/>
          <p:cNvSpPr/>
          <p:nvPr/>
        </p:nvSpPr>
        <p:spPr>
          <a:xfrm>
            <a:off x="320040" y="4462272"/>
            <a:ext cx="1737360" cy="2994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전체 엔진 통합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20"/>
          <p:cNvSpPr/>
          <p:nvPr/>
        </p:nvSpPr>
        <p:spPr>
          <a:xfrm>
            <a:off x="2103120" y="4462272"/>
            <a:ext cx="868680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20"/>
          <p:cNvSpPr/>
          <p:nvPr/>
        </p:nvSpPr>
        <p:spPr>
          <a:xfrm>
            <a:off x="2103120" y="4462272"/>
            <a:ext cx="868680" cy="2994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650"/>
              <a:buFont typeface="Calibri"/>
              <a:buNone/>
            </a:pPr>
            <a:r>
              <a:rPr b="0" i="0" lang="en-US" sz="10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박채원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20"/>
          <p:cNvSpPr/>
          <p:nvPr/>
        </p:nvSpPr>
        <p:spPr>
          <a:xfrm>
            <a:off x="3017520" y="4462272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20"/>
          <p:cNvSpPr/>
          <p:nvPr/>
        </p:nvSpPr>
        <p:spPr>
          <a:xfrm>
            <a:off x="3602736" y="4462272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20"/>
          <p:cNvSpPr/>
          <p:nvPr/>
        </p:nvSpPr>
        <p:spPr>
          <a:xfrm>
            <a:off x="4187952" y="4462272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20"/>
          <p:cNvSpPr/>
          <p:nvPr/>
        </p:nvSpPr>
        <p:spPr>
          <a:xfrm>
            <a:off x="4773168" y="4462272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20"/>
          <p:cNvSpPr/>
          <p:nvPr/>
        </p:nvSpPr>
        <p:spPr>
          <a:xfrm>
            <a:off x="5358384" y="4462272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20"/>
          <p:cNvSpPr/>
          <p:nvPr/>
        </p:nvSpPr>
        <p:spPr>
          <a:xfrm>
            <a:off x="5943600" y="4462272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20"/>
          <p:cNvSpPr/>
          <p:nvPr/>
        </p:nvSpPr>
        <p:spPr>
          <a:xfrm>
            <a:off x="6528816" y="4462272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20"/>
          <p:cNvSpPr/>
          <p:nvPr/>
        </p:nvSpPr>
        <p:spPr>
          <a:xfrm>
            <a:off x="7114032" y="4462272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20"/>
          <p:cNvSpPr/>
          <p:nvPr/>
        </p:nvSpPr>
        <p:spPr>
          <a:xfrm>
            <a:off x="7699248" y="4462272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20"/>
          <p:cNvSpPr/>
          <p:nvPr/>
        </p:nvSpPr>
        <p:spPr>
          <a:xfrm>
            <a:off x="8284464" y="4462272"/>
            <a:ext cx="585216" cy="29946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20"/>
          <p:cNvSpPr/>
          <p:nvPr/>
        </p:nvSpPr>
        <p:spPr>
          <a:xfrm>
            <a:off x="8302752" y="4493798"/>
            <a:ext cx="566928" cy="237744"/>
          </a:xfrm>
          <a:prstGeom prst="rect">
            <a:avLst/>
          </a:prstGeom>
          <a:solidFill>
            <a:srgbClr val="B0BEC5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20"/>
          <p:cNvSpPr/>
          <p:nvPr/>
        </p:nvSpPr>
        <p:spPr>
          <a:xfrm>
            <a:off x="274320" y="4761738"/>
            <a:ext cx="1828800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20"/>
          <p:cNvSpPr/>
          <p:nvPr/>
        </p:nvSpPr>
        <p:spPr>
          <a:xfrm>
            <a:off x="320040" y="4761738"/>
            <a:ext cx="1737360" cy="2994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00"/>
              <a:buFont typeface="Calibri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최종보고 (1학기)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20"/>
          <p:cNvSpPr/>
          <p:nvPr/>
        </p:nvSpPr>
        <p:spPr>
          <a:xfrm>
            <a:off x="2103120" y="4761738"/>
            <a:ext cx="868680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20"/>
          <p:cNvSpPr/>
          <p:nvPr/>
        </p:nvSpPr>
        <p:spPr>
          <a:xfrm>
            <a:off x="2103120" y="4761738"/>
            <a:ext cx="868680" cy="2994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650"/>
              <a:buFont typeface="Calibri"/>
              <a:buNone/>
            </a:pPr>
            <a:r>
              <a:rPr b="0" i="0" lang="en-US" sz="10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전원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20"/>
          <p:cNvSpPr/>
          <p:nvPr/>
        </p:nvSpPr>
        <p:spPr>
          <a:xfrm>
            <a:off x="3017520" y="4761738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20"/>
          <p:cNvSpPr/>
          <p:nvPr/>
        </p:nvSpPr>
        <p:spPr>
          <a:xfrm>
            <a:off x="3602736" y="4761738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20"/>
          <p:cNvSpPr/>
          <p:nvPr/>
        </p:nvSpPr>
        <p:spPr>
          <a:xfrm>
            <a:off x="4187952" y="4761738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20"/>
          <p:cNvSpPr/>
          <p:nvPr/>
        </p:nvSpPr>
        <p:spPr>
          <a:xfrm>
            <a:off x="4773168" y="4761738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20"/>
          <p:cNvSpPr/>
          <p:nvPr/>
        </p:nvSpPr>
        <p:spPr>
          <a:xfrm>
            <a:off x="5358384" y="4761738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20"/>
          <p:cNvSpPr/>
          <p:nvPr/>
        </p:nvSpPr>
        <p:spPr>
          <a:xfrm>
            <a:off x="5943600" y="4761738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20"/>
          <p:cNvSpPr/>
          <p:nvPr/>
        </p:nvSpPr>
        <p:spPr>
          <a:xfrm>
            <a:off x="6528816" y="4761738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20"/>
          <p:cNvSpPr/>
          <p:nvPr/>
        </p:nvSpPr>
        <p:spPr>
          <a:xfrm>
            <a:off x="7114032" y="4761738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20"/>
          <p:cNvSpPr/>
          <p:nvPr/>
        </p:nvSpPr>
        <p:spPr>
          <a:xfrm>
            <a:off x="7699248" y="4761738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20"/>
          <p:cNvSpPr/>
          <p:nvPr/>
        </p:nvSpPr>
        <p:spPr>
          <a:xfrm>
            <a:off x="8284464" y="4761738"/>
            <a:ext cx="585216" cy="299466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20"/>
          <p:cNvSpPr/>
          <p:nvPr/>
        </p:nvSpPr>
        <p:spPr>
          <a:xfrm>
            <a:off x="8284464" y="4793264"/>
            <a:ext cx="585216" cy="237744"/>
          </a:xfrm>
          <a:prstGeom prst="rect">
            <a:avLst/>
          </a:prstGeom>
          <a:solidFill>
            <a:srgbClr val="B0BEC5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20"/>
          <p:cNvSpPr/>
          <p:nvPr/>
        </p:nvSpPr>
        <p:spPr>
          <a:xfrm flipH="1" rot="10800000">
            <a:off x="5669275" y="262421"/>
            <a:ext cx="177900" cy="151800"/>
          </a:xfrm>
          <a:prstGeom prst="rect">
            <a:avLst/>
          </a:prstGeom>
          <a:solidFill>
            <a:srgbClr val="00796B"/>
          </a:solidFill>
          <a:ln cap="flat" cmpd="sng" w="12700">
            <a:solidFill>
              <a:srgbClr val="007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20"/>
          <p:cNvSpPr/>
          <p:nvPr/>
        </p:nvSpPr>
        <p:spPr>
          <a:xfrm>
            <a:off x="5974271" y="256025"/>
            <a:ext cx="253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완료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20"/>
          <p:cNvSpPr/>
          <p:nvPr/>
        </p:nvSpPr>
        <p:spPr>
          <a:xfrm>
            <a:off x="6217920" y="274317"/>
            <a:ext cx="183000" cy="12810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20"/>
          <p:cNvSpPr/>
          <p:nvPr/>
        </p:nvSpPr>
        <p:spPr>
          <a:xfrm>
            <a:off x="6464097" y="256025"/>
            <a:ext cx="341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진행중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20"/>
          <p:cNvSpPr/>
          <p:nvPr/>
        </p:nvSpPr>
        <p:spPr>
          <a:xfrm>
            <a:off x="6868370" y="274267"/>
            <a:ext cx="183000" cy="128100"/>
          </a:xfrm>
          <a:prstGeom prst="rect">
            <a:avLst/>
          </a:prstGeom>
          <a:solidFill>
            <a:srgbClr val="B0BEC5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20"/>
          <p:cNvSpPr/>
          <p:nvPr/>
        </p:nvSpPr>
        <p:spPr>
          <a:xfrm>
            <a:off x="7114546" y="256025"/>
            <a:ext cx="253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예정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2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21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21"/>
          <p:cNvSpPr/>
          <p:nvPr/>
        </p:nvSpPr>
        <p:spPr>
          <a:xfrm>
            <a:off x="365760" y="118872"/>
            <a:ext cx="54864" cy="384048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21"/>
          <p:cNvSpPr/>
          <p:nvPr/>
        </p:nvSpPr>
        <p:spPr>
          <a:xfrm>
            <a:off x="493776" y="118872"/>
            <a:ext cx="8284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3.1  프로젝트 일정표 —  (2학기: 6월 ~ 12월)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21"/>
          <p:cNvSpPr/>
          <p:nvPr/>
        </p:nvSpPr>
        <p:spPr>
          <a:xfrm>
            <a:off x="3108960" y="594360"/>
            <a:ext cx="822960" cy="27432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21"/>
          <p:cNvSpPr/>
          <p:nvPr/>
        </p:nvSpPr>
        <p:spPr>
          <a:xfrm>
            <a:off x="3108960" y="59436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6월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21"/>
          <p:cNvSpPr/>
          <p:nvPr/>
        </p:nvSpPr>
        <p:spPr>
          <a:xfrm>
            <a:off x="3931920" y="594360"/>
            <a:ext cx="822960" cy="27432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21"/>
          <p:cNvSpPr/>
          <p:nvPr/>
        </p:nvSpPr>
        <p:spPr>
          <a:xfrm>
            <a:off x="3931920" y="59436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7월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21"/>
          <p:cNvSpPr/>
          <p:nvPr/>
        </p:nvSpPr>
        <p:spPr>
          <a:xfrm>
            <a:off x="4754880" y="594360"/>
            <a:ext cx="822960" cy="27432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21"/>
          <p:cNvSpPr/>
          <p:nvPr/>
        </p:nvSpPr>
        <p:spPr>
          <a:xfrm>
            <a:off x="4754880" y="59436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8월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21"/>
          <p:cNvSpPr/>
          <p:nvPr/>
        </p:nvSpPr>
        <p:spPr>
          <a:xfrm>
            <a:off x="5577840" y="594360"/>
            <a:ext cx="822960" cy="27432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21"/>
          <p:cNvSpPr/>
          <p:nvPr/>
        </p:nvSpPr>
        <p:spPr>
          <a:xfrm>
            <a:off x="5577840" y="59436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9월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21"/>
          <p:cNvSpPr/>
          <p:nvPr/>
        </p:nvSpPr>
        <p:spPr>
          <a:xfrm>
            <a:off x="6400800" y="594360"/>
            <a:ext cx="822960" cy="27432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21"/>
          <p:cNvSpPr/>
          <p:nvPr/>
        </p:nvSpPr>
        <p:spPr>
          <a:xfrm>
            <a:off x="6400800" y="59436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10월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21"/>
          <p:cNvSpPr/>
          <p:nvPr/>
        </p:nvSpPr>
        <p:spPr>
          <a:xfrm>
            <a:off x="7223760" y="594360"/>
            <a:ext cx="822960" cy="27432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21"/>
          <p:cNvSpPr/>
          <p:nvPr/>
        </p:nvSpPr>
        <p:spPr>
          <a:xfrm>
            <a:off x="7223760" y="59436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11월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21"/>
          <p:cNvSpPr/>
          <p:nvPr/>
        </p:nvSpPr>
        <p:spPr>
          <a:xfrm>
            <a:off x="8046720" y="594360"/>
            <a:ext cx="822960" cy="27432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21"/>
          <p:cNvSpPr/>
          <p:nvPr/>
        </p:nvSpPr>
        <p:spPr>
          <a:xfrm>
            <a:off x="8046720" y="59436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12월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21"/>
          <p:cNvSpPr/>
          <p:nvPr/>
        </p:nvSpPr>
        <p:spPr>
          <a:xfrm>
            <a:off x="274320" y="868680"/>
            <a:ext cx="192024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21"/>
          <p:cNvSpPr/>
          <p:nvPr/>
        </p:nvSpPr>
        <p:spPr>
          <a:xfrm>
            <a:off x="320040" y="86868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 xml:space="preserve">고도화: </a:t>
            </a:r>
            <a:r>
              <a:rPr b="0" i="0" lang="en-US" sz="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YOLOv8 복합 트러블 학습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21"/>
          <p:cNvSpPr/>
          <p:nvPr/>
        </p:nvSpPr>
        <p:spPr>
          <a:xfrm>
            <a:off x="2194560" y="868680"/>
            <a:ext cx="86868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21"/>
          <p:cNvSpPr/>
          <p:nvPr/>
        </p:nvSpPr>
        <p:spPr>
          <a:xfrm>
            <a:off x="2194560" y="868680"/>
            <a:ext cx="868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65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유소희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21"/>
          <p:cNvSpPr/>
          <p:nvPr/>
        </p:nvSpPr>
        <p:spPr>
          <a:xfrm>
            <a:off x="3108960" y="868680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21"/>
          <p:cNvSpPr/>
          <p:nvPr/>
        </p:nvSpPr>
        <p:spPr>
          <a:xfrm>
            <a:off x="3931920" y="868680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21"/>
          <p:cNvSpPr/>
          <p:nvPr/>
        </p:nvSpPr>
        <p:spPr>
          <a:xfrm>
            <a:off x="4754880" y="868680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21"/>
          <p:cNvSpPr/>
          <p:nvPr/>
        </p:nvSpPr>
        <p:spPr>
          <a:xfrm>
            <a:off x="5577840" y="868680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21"/>
          <p:cNvSpPr/>
          <p:nvPr/>
        </p:nvSpPr>
        <p:spPr>
          <a:xfrm>
            <a:off x="6400800" y="868680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21"/>
          <p:cNvSpPr/>
          <p:nvPr/>
        </p:nvSpPr>
        <p:spPr>
          <a:xfrm>
            <a:off x="7223760" y="868680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21"/>
          <p:cNvSpPr/>
          <p:nvPr/>
        </p:nvSpPr>
        <p:spPr>
          <a:xfrm>
            <a:off x="8046720" y="868680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21"/>
          <p:cNvSpPr/>
          <p:nvPr/>
        </p:nvSpPr>
        <p:spPr>
          <a:xfrm>
            <a:off x="3136392" y="905256"/>
            <a:ext cx="2414016" cy="274320"/>
          </a:xfrm>
          <a:prstGeom prst="rect">
            <a:avLst/>
          </a:prstGeom>
          <a:solidFill>
            <a:srgbClr val="B0BEC5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21"/>
          <p:cNvSpPr/>
          <p:nvPr/>
        </p:nvSpPr>
        <p:spPr>
          <a:xfrm>
            <a:off x="274320" y="1216152"/>
            <a:ext cx="192024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21"/>
          <p:cNvSpPr/>
          <p:nvPr/>
        </p:nvSpPr>
        <p:spPr>
          <a:xfrm>
            <a:off x="320040" y="121615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고도화</a:t>
            </a:r>
            <a:r>
              <a:rPr b="0" i="0" lang="en-US" sz="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: LLM 지식베이스 확장 (RAG)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21"/>
          <p:cNvSpPr/>
          <p:nvPr/>
        </p:nvSpPr>
        <p:spPr>
          <a:xfrm>
            <a:off x="2194560" y="1216152"/>
            <a:ext cx="86868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21"/>
          <p:cNvSpPr/>
          <p:nvPr/>
        </p:nvSpPr>
        <p:spPr>
          <a:xfrm>
            <a:off x="2194560" y="1216152"/>
            <a:ext cx="868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65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이윤석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21"/>
          <p:cNvSpPr/>
          <p:nvPr/>
        </p:nvSpPr>
        <p:spPr>
          <a:xfrm>
            <a:off x="3108960" y="1216152"/>
            <a:ext cx="82296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21"/>
          <p:cNvSpPr/>
          <p:nvPr/>
        </p:nvSpPr>
        <p:spPr>
          <a:xfrm>
            <a:off x="3931920" y="1216152"/>
            <a:ext cx="82296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21"/>
          <p:cNvSpPr/>
          <p:nvPr/>
        </p:nvSpPr>
        <p:spPr>
          <a:xfrm>
            <a:off x="4754880" y="1216152"/>
            <a:ext cx="82296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21"/>
          <p:cNvSpPr/>
          <p:nvPr/>
        </p:nvSpPr>
        <p:spPr>
          <a:xfrm>
            <a:off x="5577840" y="1216152"/>
            <a:ext cx="82296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21"/>
          <p:cNvSpPr/>
          <p:nvPr/>
        </p:nvSpPr>
        <p:spPr>
          <a:xfrm>
            <a:off x="6400800" y="1216152"/>
            <a:ext cx="82296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21"/>
          <p:cNvSpPr/>
          <p:nvPr/>
        </p:nvSpPr>
        <p:spPr>
          <a:xfrm>
            <a:off x="7223760" y="1216152"/>
            <a:ext cx="82296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21"/>
          <p:cNvSpPr/>
          <p:nvPr/>
        </p:nvSpPr>
        <p:spPr>
          <a:xfrm>
            <a:off x="8046720" y="1216152"/>
            <a:ext cx="82296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21"/>
          <p:cNvSpPr/>
          <p:nvPr/>
        </p:nvSpPr>
        <p:spPr>
          <a:xfrm>
            <a:off x="3136392" y="1252728"/>
            <a:ext cx="2414016" cy="274320"/>
          </a:xfrm>
          <a:prstGeom prst="rect">
            <a:avLst/>
          </a:prstGeom>
          <a:solidFill>
            <a:srgbClr val="B0BEC5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21"/>
          <p:cNvSpPr/>
          <p:nvPr/>
        </p:nvSpPr>
        <p:spPr>
          <a:xfrm>
            <a:off x="274320" y="1563624"/>
            <a:ext cx="192024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21"/>
          <p:cNvSpPr/>
          <p:nvPr/>
        </p:nvSpPr>
        <p:spPr>
          <a:xfrm>
            <a:off x="320040" y="1563624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고도화: 제품 성분 DB 확장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21"/>
          <p:cNvSpPr/>
          <p:nvPr/>
        </p:nvSpPr>
        <p:spPr>
          <a:xfrm>
            <a:off x="2194560" y="1563624"/>
            <a:ext cx="86868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21"/>
          <p:cNvSpPr/>
          <p:nvPr/>
        </p:nvSpPr>
        <p:spPr>
          <a:xfrm>
            <a:off x="2194560" y="1563624"/>
            <a:ext cx="868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65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조정인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21"/>
          <p:cNvSpPr/>
          <p:nvPr/>
        </p:nvSpPr>
        <p:spPr>
          <a:xfrm>
            <a:off x="3108960" y="1563624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21"/>
          <p:cNvSpPr/>
          <p:nvPr/>
        </p:nvSpPr>
        <p:spPr>
          <a:xfrm>
            <a:off x="3931920" y="1563624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21"/>
          <p:cNvSpPr/>
          <p:nvPr/>
        </p:nvSpPr>
        <p:spPr>
          <a:xfrm>
            <a:off x="4754880" y="1563624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21"/>
          <p:cNvSpPr/>
          <p:nvPr/>
        </p:nvSpPr>
        <p:spPr>
          <a:xfrm>
            <a:off x="5577840" y="1563624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21"/>
          <p:cNvSpPr/>
          <p:nvPr/>
        </p:nvSpPr>
        <p:spPr>
          <a:xfrm>
            <a:off x="6400800" y="1563624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21"/>
          <p:cNvSpPr/>
          <p:nvPr/>
        </p:nvSpPr>
        <p:spPr>
          <a:xfrm>
            <a:off x="7223760" y="1563624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21"/>
          <p:cNvSpPr/>
          <p:nvPr/>
        </p:nvSpPr>
        <p:spPr>
          <a:xfrm>
            <a:off x="8046720" y="1563624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21"/>
          <p:cNvSpPr/>
          <p:nvPr/>
        </p:nvSpPr>
        <p:spPr>
          <a:xfrm>
            <a:off x="3136392" y="1600200"/>
            <a:ext cx="2414016" cy="274320"/>
          </a:xfrm>
          <a:prstGeom prst="rect">
            <a:avLst/>
          </a:prstGeom>
          <a:solidFill>
            <a:srgbClr val="B0BEC5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21"/>
          <p:cNvSpPr/>
          <p:nvPr/>
        </p:nvSpPr>
        <p:spPr>
          <a:xfrm>
            <a:off x="274320" y="1911096"/>
            <a:ext cx="192024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21"/>
          <p:cNvSpPr/>
          <p:nvPr/>
        </p:nvSpPr>
        <p:spPr>
          <a:xfrm>
            <a:off x="320040" y="1911096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 xml:space="preserve">고도화: </a:t>
            </a:r>
            <a:r>
              <a:rPr b="0" i="0" lang="en-US" sz="1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API 서버 성능 최적화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21"/>
          <p:cNvSpPr/>
          <p:nvPr/>
        </p:nvSpPr>
        <p:spPr>
          <a:xfrm>
            <a:off x="2194560" y="1911096"/>
            <a:ext cx="86868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21"/>
          <p:cNvSpPr/>
          <p:nvPr/>
        </p:nvSpPr>
        <p:spPr>
          <a:xfrm>
            <a:off x="2194560" y="1911096"/>
            <a:ext cx="868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65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현예진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21"/>
          <p:cNvSpPr/>
          <p:nvPr/>
        </p:nvSpPr>
        <p:spPr>
          <a:xfrm>
            <a:off x="3108960" y="1911096"/>
            <a:ext cx="82296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21"/>
          <p:cNvSpPr/>
          <p:nvPr/>
        </p:nvSpPr>
        <p:spPr>
          <a:xfrm>
            <a:off x="3931920" y="1911096"/>
            <a:ext cx="82296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21"/>
          <p:cNvSpPr/>
          <p:nvPr/>
        </p:nvSpPr>
        <p:spPr>
          <a:xfrm>
            <a:off x="4754880" y="1911096"/>
            <a:ext cx="82296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21"/>
          <p:cNvSpPr/>
          <p:nvPr/>
        </p:nvSpPr>
        <p:spPr>
          <a:xfrm>
            <a:off x="5577840" y="1911096"/>
            <a:ext cx="82296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21"/>
          <p:cNvSpPr/>
          <p:nvPr/>
        </p:nvSpPr>
        <p:spPr>
          <a:xfrm>
            <a:off x="6400800" y="1911096"/>
            <a:ext cx="82296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21"/>
          <p:cNvSpPr/>
          <p:nvPr/>
        </p:nvSpPr>
        <p:spPr>
          <a:xfrm>
            <a:off x="7223760" y="1911096"/>
            <a:ext cx="82296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21"/>
          <p:cNvSpPr/>
          <p:nvPr/>
        </p:nvSpPr>
        <p:spPr>
          <a:xfrm>
            <a:off x="8046720" y="1911096"/>
            <a:ext cx="82296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21"/>
          <p:cNvSpPr/>
          <p:nvPr/>
        </p:nvSpPr>
        <p:spPr>
          <a:xfrm>
            <a:off x="3136392" y="1947672"/>
            <a:ext cx="2414016" cy="274320"/>
          </a:xfrm>
          <a:prstGeom prst="rect">
            <a:avLst/>
          </a:prstGeom>
          <a:solidFill>
            <a:srgbClr val="B0BEC5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21"/>
          <p:cNvSpPr/>
          <p:nvPr/>
        </p:nvSpPr>
        <p:spPr>
          <a:xfrm>
            <a:off x="274320" y="2258568"/>
            <a:ext cx="192024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21"/>
          <p:cNvSpPr/>
          <p:nvPr/>
        </p:nvSpPr>
        <p:spPr>
          <a:xfrm>
            <a:off x="320040" y="2258568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고도화: Android UI 고도화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21"/>
          <p:cNvSpPr/>
          <p:nvPr/>
        </p:nvSpPr>
        <p:spPr>
          <a:xfrm>
            <a:off x="2194560" y="2258568"/>
            <a:ext cx="86868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21"/>
          <p:cNvSpPr/>
          <p:nvPr/>
        </p:nvSpPr>
        <p:spPr>
          <a:xfrm>
            <a:off x="2194560" y="2258568"/>
            <a:ext cx="868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65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장여정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21"/>
          <p:cNvSpPr/>
          <p:nvPr/>
        </p:nvSpPr>
        <p:spPr>
          <a:xfrm>
            <a:off x="3108960" y="2258568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21"/>
          <p:cNvSpPr/>
          <p:nvPr/>
        </p:nvSpPr>
        <p:spPr>
          <a:xfrm>
            <a:off x="3931920" y="2258568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21"/>
          <p:cNvSpPr/>
          <p:nvPr/>
        </p:nvSpPr>
        <p:spPr>
          <a:xfrm>
            <a:off x="4754880" y="2258568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21"/>
          <p:cNvSpPr/>
          <p:nvPr/>
        </p:nvSpPr>
        <p:spPr>
          <a:xfrm>
            <a:off x="5577840" y="2258568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21"/>
          <p:cNvSpPr/>
          <p:nvPr/>
        </p:nvSpPr>
        <p:spPr>
          <a:xfrm>
            <a:off x="6400800" y="2258568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21"/>
          <p:cNvSpPr/>
          <p:nvPr/>
        </p:nvSpPr>
        <p:spPr>
          <a:xfrm>
            <a:off x="7223760" y="2258568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21"/>
          <p:cNvSpPr/>
          <p:nvPr/>
        </p:nvSpPr>
        <p:spPr>
          <a:xfrm>
            <a:off x="8046720" y="2258568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21"/>
          <p:cNvSpPr/>
          <p:nvPr/>
        </p:nvSpPr>
        <p:spPr>
          <a:xfrm>
            <a:off x="3136392" y="2295144"/>
            <a:ext cx="2414016" cy="274320"/>
          </a:xfrm>
          <a:prstGeom prst="rect">
            <a:avLst/>
          </a:prstGeom>
          <a:solidFill>
            <a:srgbClr val="B0BEC5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21"/>
          <p:cNvSpPr/>
          <p:nvPr/>
        </p:nvSpPr>
        <p:spPr>
          <a:xfrm>
            <a:off x="274320" y="2606040"/>
            <a:ext cx="192024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21"/>
          <p:cNvSpPr/>
          <p:nvPr/>
        </p:nvSpPr>
        <p:spPr>
          <a:xfrm>
            <a:off x="320040" y="260604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시스템 통합 (SI)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21"/>
          <p:cNvSpPr/>
          <p:nvPr/>
        </p:nvSpPr>
        <p:spPr>
          <a:xfrm>
            <a:off x="2194560" y="2606040"/>
            <a:ext cx="86868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21"/>
          <p:cNvSpPr/>
          <p:nvPr/>
        </p:nvSpPr>
        <p:spPr>
          <a:xfrm>
            <a:off x="2194560" y="2606040"/>
            <a:ext cx="868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65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전원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21"/>
          <p:cNvSpPr/>
          <p:nvPr/>
        </p:nvSpPr>
        <p:spPr>
          <a:xfrm>
            <a:off x="3108960" y="2606040"/>
            <a:ext cx="82296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21"/>
          <p:cNvSpPr/>
          <p:nvPr/>
        </p:nvSpPr>
        <p:spPr>
          <a:xfrm>
            <a:off x="3931920" y="2606040"/>
            <a:ext cx="82296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21"/>
          <p:cNvSpPr/>
          <p:nvPr/>
        </p:nvSpPr>
        <p:spPr>
          <a:xfrm>
            <a:off x="4754880" y="2606040"/>
            <a:ext cx="82296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21"/>
          <p:cNvSpPr/>
          <p:nvPr/>
        </p:nvSpPr>
        <p:spPr>
          <a:xfrm>
            <a:off x="5577840" y="2606040"/>
            <a:ext cx="82296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21"/>
          <p:cNvSpPr/>
          <p:nvPr/>
        </p:nvSpPr>
        <p:spPr>
          <a:xfrm>
            <a:off x="6400800" y="2606040"/>
            <a:ext cx="82296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21"/>
          <p:cNvSpPr/>
          <p:nvPr/>
        </p:nvSpPr>
        <p:spPr>
          <a:xfrm>
            <a:off x="7223760" y="2606040"/>
            <a:ext cx="82296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21"/>
          <p:cNvSpPr/>
          <p:nvPr/>
        </p:nvSpPr>
        <p:spPr>
          <a:xfrm>
            <a:off x="8046720" y="2606040"/>
            <a:ext cx="82296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21"/>
          <p:cNvSpPr/>
          <p:nvPr/>
        </p:nvSpPr>
        <p:spPr>
          <a:xfrm>
            <a:off x="5605272" y="2642616"/>
            <a:ext cx="1591056" cy="274320"/>
          </a:xfrm>
          <a:prstGeom prst="rect">
            <a:avLst/>
          </a:prstGeom>
          <a:solidFill>
            <a:srgbClr val="B0BEC5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21"/>
          <p:cNvSpPr/>
          <p:nvPr/>
        </p:nvSpPr>
        <p:spPr>
          <a:xfrm>
            <a:off x="274320" y="2953512"/>
            <a:ext cx="192024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21"/>
          <p:cNvSpPr/>
          <p:nvPr/>
        </p:nvSpPr>
        <p:spPr>
          <a:xfrm>
            <a:off x="320040" y="295351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통합 테스트 및 QA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21"/>
          <p:cNvSpPr/>
          <p:nvPr/>
        </p:nvSpPr>
        <p:spPr>
          <a:xfrm>
            <a:off x="2194560" y="2953512"/>
            <a:ext cx="86868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21"/>
          <p:cNvSpPr/>
          <p:nvPr/>
        </p:nvSpPr>
        <p:spPr>
          <a:xfrm>
            <a:off x="2194560" y="2953512"/>
            <a:ext cx="868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65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전원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21"/>
          <p:cNvSpPr/>
          <p:nvPr/>
        </p:nvSpPr>
        <p:spPr>
          <a:xfrm>
            <a:off x="3108960" y="2953512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21"/>
          <p:cNvSpPr/>
          <p:nvPr/>
        </p:nvSpPr>
        <p:spPr>
          <a:xfrm>
            <a:off x="3931920" y="2953512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21"/>
          <p:cNvSpPr/>
          <p:nvPr/>
        </p:nvSpPr>
        <p:spPr>
          <a:xfrm>
            <a:off x="4754880" y="2953512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21"/>
          <p:cNvSpPr/>
          <p:nvPr/>
        </p:nvSpPr>
        <p:spPr>
          <a:xfrm>
            <a:off x="5577840" y="2953512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21"/>
          <p:cNvSpPr/>
          <p:nvPr/>
        </p:nvSpPr>
        <p:spPr>
          <a:xfrm>
            <a:off x="6400800" y="2953512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21"/>
          <p:cNvSpPr/>
          <p:nvPr/>
        </p:nvSpPr>
        <p:spPr>
          <a:xfrm>
            <a:off x="7223760" y="2953512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21"/>
          <p:cNvSpPr/>
          <p:nvPr/>
        </p:nvSpPr>
        <p:spPr>
          <a:xfrm>
            <a:off x="8046720" y="2953512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21"/>
          <p:cNvSpPr/>
          <p:nvPr/>
        </p:nvSpPr>
        <p:spPr>
          <a:xfrm>
            <a:off x="6428232" y="2990088"/>
            <a:ext cx="768096" cy="274320"/>
          </a:xfrm>
          <a:prstGeom prst="rect">
            <a:avLst/>
          </a:prstGeom>
          <a:solidFill>
            <a:srgbClr val="B0BEC5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21"/>
          <p:cNvSpPr/>
          <p:nvPr/>
        </p:nvSpPr>
        <p:spPr>
          <a:xfrm>
            <a:off x="274320" y="3300984"/>
            <a:ext cx="192024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21"/>
          <p:cNvSpPr/>
          <p:nvPr/>
        </p:nvSpPr>
        <p:spPr>
          <a:xfrm>
            <a:off x="320040" y="3300984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사용자 테스트 (20명+)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21"/>
          <p:cNvSpPr/>
          <p:nvPr/>
        </p:nvSpPr>
        <p:spPr>
          <a:xfrm>
            <a:off x="2194560" y="3300984"/>
            <a:ext cx="86868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21"/>
          <p:cNvSpPr/>
          <p:nvPr/>
        </p:nvSpPr>
        <p:spPr>
          <a:xfrm>
            <a:off x="2194560" y="3300984"/>
            <a:ext cx="868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65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전원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21"/>
          <p:cNvSpPr/>
          <p:nvPr/>
        </p:nvSpPr>
        <p:spPr>
          <a:xfrm>
            <a:off x="3108960" y="3300984"/>
            <a:ext cx="82296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21"/>
          <p:cNvSpPr/>
          <p:nvPr/>
        </p:nvSpPr>
        <p:spPr>
          <a:xfrm>
            <a:off x="3931920" y="3300984"/>
            <a:ext cx="82296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21"/>
          <p:cNvSpPr/>
          <p:nvPr/>
        </p:nvSpPr>
        <p:spPr>
          <a:xfrm>
            <a:off x="4754880" y="3300984"/>
            <a:ext cx="82296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21"/>
          <p:cNvSpPr/>
          <p:nvPr/>
        </p:nvSpPr>
        <p:spPr>
          <a:xfrm>
            <a:off x="5577840" y="3300984"/>
            <a:ext cx="82296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21"/>
          <p:cNvSpPr/>
          <p:nvPr/>
        </p:nvSpPr>
        <p:spPr>
          <a:xfrm>
            <a:off x="6400800" y="3300984"/>
            <a:ext cx="82296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21"/>
          <p:cNvSpPr/>
          <p:nvPr/>
        </p:nvSpPr>
        <p:spPr>
          <a:xfrm>
            <a:off x="7223760" y="3300984"/>
            <a:ext cx="82296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21"/>
          <p:cNvSpPr/>
          <p:nvPr/>
        </p:nvSpPr>
        <p:spPr>
          <a:xfrm>
            <a:off x="8046720" y="3300984"/>
            <a:ext cx="82296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21"/>
          <p:cNvSpPr/>
          <p:nvPr/>
        </p:nvSpPr>
        <p:spPr>
          <a:xfrm>
            <a:off x="6428232" y="3337560"/>
            <a:ext cx="1591056" cy="274320"/>
          </a:xfrm>
          <a:prstGeom prst="rect">
            <a:avLst/>
          </a:prstGeom>
          <a:solidFill>
            <a:srgbClr val="B0BEC5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21"/>
          <p:cNvSpPr/>
          <p:nvPr/>
        </p:nvSpPr>
        <p:spPr>
          <a:xfrm>
            <a:off x="274320" y="3648456"/>
            <a:ext cx="192024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21"/>
          <p:cNvSpPr/>
          <p:nvPr/>
        </p:nvSpPr>
        <p:spPr>
          <a:xfrm>
            <a:off x="320040" y="3648456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버그 수정 및 최적화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21"/>
          <p:cNvSpPr/>
          <p:nvPr/>
        </p:nvSpPr>
        <p:spPr>
          <a:xfrm>
            <a:off x="2194560" y="3648456"/>
            <a:ext cx="86868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21"/>
          <p:cNvSpPr/>
          <p:nvPr/>
        </p:nvSpPr>
        <p:spPr>
          <a:xfrm>
            <a:off x="2194560" y="3648456"/>
            <a:ext cx="868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65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전원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21"/>
          <p:cNvSpPr/>
          <p:nvPr/>
        </p:nvSpPr>
        <p:spPr>
          <a:xfrm>
            <a:off x="3108960" y="3648456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21"/>
          <p:cNvSpPr/>
          <p:nvPr/>
        </p:nvSpPr>
        <p:spPr>
          <a:xfrm>
            <a:off x="3931920" y="3648456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21"/>
          <p:cNvSpPr/>
          <p:nvPr/>
        </p:nvSpPr>
        <p:spPr>
          <a:xfrm>
            <a:off x="4754880" y="3648456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21"/>
          <p:cNvSpPr/>
          <p:nvPr/>
        </p:nvSpPr>
        <p:spPr>
          <a:xfrm>
            <a:off x="5577840" y="3648456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21"/>
          <p:cNvSpPr/>
          <p:nvPr/>
        </p:nvSpPr>
        <p:spPr>
          <a:xfrm>
            <a:off x="6400800" y="3648456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21"/>
          <p:cNvSpPr/>
          <p:nvPr/>
        </p:nvSpPr>
        <p:spPr>
          <a:xfrm>
            <a:off x="7223760" y="3648456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21"/>
          <p:cNvSpPr/>
          <p:nvPr/>
        </p:nvSpPr>
        <p:spPr>
          <a:xfrm>
            <a:off x="8046720" y="3648456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21"/>
          <p:cNvSpPr/>
          <p:nvPr/>
        </p:nvSpPr>
        <p:spPr>
          <a:xfrm>
            <a:off x="7251192" y="3685032"/>
            <a:ext cx="768096" cy="274320"/>
          </a:xfrm>
          <a:prstGeom prst="rect">
            <a:avLst/>
          </a:prstGeom>
          <a:solidFill>
            <a:srgbClr val="B0BEC5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21"/>
          <p:cNvSpPr/>
          <p:nvPr/>
        </p:nvSpPr>
        <p:spPr>
          <a:xfrm>
            <a:off x="274320" y="3995928"/>
            <a:ext cx="192024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21"/>
          <p:cNvSpPr/>
          <p:nvPr/>
        </p:nvSpPr>
        <p:spPr>
          <a:xfrm>
            <a:off x="320040" y="3995928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서비스 배포 및 아카이빙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21"/>
          <p:cNvSpPr/>
          <p:nvPr/>
        </p:nvSpPr>
        <p:spPr>
          <a:xfrm>
            <a:off x="2194560" y="3995928"/>
            <a:ext cx="86868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21"/>
          <p:cNvSpPr/>
          <p:nvPr/>
        </p:nvSpPr>
        <p:spPr>
          <a:xfrm>
            <a:off x="2194560" y="3995928"/>
            <a:ext cx="868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65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전원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21"/>
          <p:cNvSpPr/>
          <p:nvPr/>
        </p:nvSpPr>
        <p:spPr>
          <a:xfrm>
            <a:off x="3108960" y="3995928"/>
            <a:ext cx="82296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21"/>
          <p:cNvSpPr/>
          <p:nvPr/>
        </p:nvSpPr>
        <p:spPr>
          <a:xfrm>
            <a:off x="3931920" y="3995928"/>
            <a:ext cx="82296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21"/>
          <p:cNvSpPr/>
          <p:nvPr/>
        </p:nvSpPr>
        <p:spPr>
          <a:xfrm>
            <a:off x="4754880" y="3995928"/>
            <a:ext cx="82296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21"/>
          <p:cNvSpPr/>
          <p:nvPr/>
        </p:nvSpPr>
        <p:spPr>
          <a:xfrm>
            <a:off x="5577840" y="3995928"/>
            <a:ext cx="82296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21"/>
          <p:cNvSpPr/>
          <p:nvPr/>
        </p:nvSpPr>
        <p:spPr>
          <a:xfrm>
            <a:off x="6400800" y="3995928"/>
            <a:ext cx="82296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21"/>
          <p:cNvSpPr/>
          <p:nvPr/>
        </p:nvSpPr>
        <p:spPr>
          <a:xfrm>
            <a:off x="7223760" y="3995928"/>
            <a:ext cx="82296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21"/>
          <p:cNvSpPr/>
          <p:nvPr/>
        </p:nvSpPr>
        <p:spPr>
          <a:xfrm>
            <a:off x="8046720" y="3995928"/>
            <a:ext cx="822960" cy="347472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21"/>
          <p:cNvSpPr/>
          <p:nvPr/>
        </p:nvSpPr>
        <p:spPr>
          <a:xfrm>
            <a:off x="7251192" y="4032504"/>
            <a:ext cx="768096" cy="274320"/>
          </a:xfrm>
          <a:prstGeom prst="rect">
            <a:avLst/>
          </a:prstGeom>
          <a:solidFill>
            <a:srgbClr val="B0BEC5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21"/>
          <p:cNvSpPr/>
          <p:nvPr/>
        </p:nvSpPr>
        <p:spPr>
          <a:xfrm>
            <a:off x="274320" y="4343400"/>
            <a:ext cx="192024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21"/>
          <p:cNvSpPr/>
          <p:nvPr/>
        </p:nvSpPr>
        <p:spPr>
          <a:xfrm>
            <a:off x="320040" y="434340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7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최종 보고서 작성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21"/>
          <p:cNvSpPr/>
          <p:nvPr/>
        </p:nvSpPr>
        <p:spPr>
          <a:xfrm>
            <a:off x="2194560" y="4343400"/>
            <a:ext cx="86868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21"/>
          <p:cNvSpPr/>
          <p:nvPr/>
        </p:nvSpPr>
        <p:spPr>
          <a:xfrm>
            <a:off x="2194560" y="4343400"/>
            <a:ext cx="868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65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전원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21"/>
          <p:cNvSpPr/>
          <p:nvPr/>
        </p:nvSpPr>
        <p:spPr>
          <a:xfrm>
            <a:off x="3108960" y="4343400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21"/>
          <p:cNvSpPr/>
          <p:nvPr/>
        </p:nvSpPr>
        <p:spPr>
          <a:xfrm>
            <a:off x="3931920" y="4343400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21"/>
          <p:cNvSpPr/>
          <p:nvPr/>
        </p:nvSpPr>
        <p:spPr>
          <a:xfrm>
            <a:off x="4754880" y="4343400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21"/>
          <p:cNvSpPr/>
          <p:nvPr/>
        </p:nvSpPr>
        <p:spPr>
          <a:xfrm>
            <a:off x="5577840" y="4343400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21"/>
          <p:cNvSpPr/>
          <p:nvPr/>
        </p:nvSpPr>
        <p:spPr>
          <a:xfrm>
            <a:off x="6400800" y="4343400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21"/>
          <p:cNvSpPr/>
          <p:nvPr/>
        </p:nvSpPr>
        <p:spPr>
          <a:xfrm>
            <a:off x="7223760" y="4343400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21"/>
          <p:cNvSpPr/>
          <p:nvPr/>
        </p:nvSpPr>
        <p:spPr>
          <a:xfrm>
            <a:off x="8046720" y="4343400"/>
            <a:ext cx="822960" cy="3474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21"/>
          <p:cNvSpPr/>
          <p:nvPr/>
        </p:nvSpPr>
        <p:spPr>
          <a:xfrm>
            <a:off x="7251192" y="4379976"/>
            <a:ext cx="1591056" cy="274320"/>
          </a:xfrm>
          <a:prstGeom prst="rect">
            <a:avLst/>
          </a:prstGeom>
          <a:solidFill>
            <a:srgbClr val="B0BEC5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21"/>
          <p:cNvSpPr/>
          <p:nvPr/>
        </p:nvSpPr>
        <p:spPr>
          <a:xfrm>
            <a:off x="274320" y="4709160"/>
            <a:ext cx="8595360" cy="18288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21"/>
          <p:cNvSpPr/>
          <p:nvPr/>
        </p:nvSpPr>
        <p:spPr>
          <a:xfrm>
            <a:off x="274320" y="4709160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900"/>
              <a:buFont typeface="Calibri"/>
              <a:buNone/>
            </a:pPr>
            <a:r>
              <a:rPr b="1" i="0" lang="en-US" sz="12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★ 12월 4일 최종 서비스 런칭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2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22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22"/>
          <p:cNvSpPr/>
          <p:nvPr/>
        </p:nvSpPr>
        <p:spPr>
          <a:xfrm>
            <a:off x="365760" y="118872"/>
            <a:ext cx="54864" cy="384048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22"/>
          <p:cNvSpPr/>
          <p:nvPr/>
        </p:nvSpPr>
        <p:spPr>
          <a:xfrm>
            <a:off x="493776" y="118872"/>
            <a:ext cx="8284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3.1  주요 마일스톤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22"/>
          <p:cNvSpPr/>
          <p:nvPr/>
        </p:nvSpPr>
        <p:spPr>
          <a:xfrm>
            <a:off x="365760" y="685800"/>
            <a:ext cx="4069080" cy="96012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22"/>
          <p:cNvSpPr/>
          <p:nvPr/>
        </p:nvSpPr>
        <p:spPr>
          <a:xfrm>
            <a:off x="365760" y="685800"/>
            <a:ext cx="1097280" cy="96012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22"/>
          <p:cNvSpPr/>
          <p:nvPr/>
        </p:nvSpPr>
        <p:spPr>
          <a:xfrm>
            <a:off x="411480" y="685800"/>
            <a:ext cx="10058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04.01~10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22"/>
          <p:cNvSpPr/>
          <p:nvPr/>
        </p:nvSpPr>
        <p:spPr>
          <a:xfrm>
            <a:off x="1554480" y="758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알고리즘 1차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22"/>
          <p:cNvSpPr/>
          <p:nvPr/>
        </p:nvSpPr>
        <p:spPr>
          <a:xfrm>
            <a:off x="1554480" y="1069848"/>
            <a:ext cx="2788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 xml:space="preserve">OpenCV CLAHE 조명 보정 · ROI </a:t>
            </a:r>
            <a:endParaRPr b="0" i="0" sz="1400" u="none" cap="none" strike="noStrike">
              <a:solidFill>
                <a:srgbClr val="546E7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추출 엔진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22"/>
          <p:cNvSpPr/>
          <p:nvPr/>
        </p:nvSpPr>
        <p:spPr>
          <a:xfrm>
            <a:off x="4709160" y="685800"/>
            <a:ext cx="4069080" cy="96012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22"/>
          <p:cNvSpPr/>
          <p:nvPr/>
        </p:nvSpPr>
        <p:spPr>
          <a:xfrm>
            <a:off x="4709160" y="685800"/>
            <a:ext cx="1097280" cy="96012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22"/>
          <p:cNvSpPr/>
          <p:nvPr/>
        </p:nvSpPr>
        <p:spPr>
          <a:xfrm>
            <a:off x="4754880" y="685800"/>
            <a:ext cx="10058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04.07~05.07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22"/>
          <p:cNvSpPr/>
          <p:nvPr/>
        </p:nvSpPr>
        <p:spPr>
          <a:xfrm>
            <a:off x="5897880" y="75895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UI/UX 디자인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22"/>
          <p:cNvSpPr/>
          <p:nvPr/>
        </p:nvSpPr>
        <p:spPr>
          <a:xfrm>
            <a:off x="5897880" y="1069848"/>
            <a:ext cx="2788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Figma 상세 설계 및 레이아웃 완성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22"/>
          <p:cNvSpPr/>
          <p:nvPr/>
        </p:nvSpPr>
        <p:spPr>
          <a:xfrm>
            <a:off x="365760" y="1783080"/>
            <a:ext cx="4069080" cy="96012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22"/>
          <p:cNvSpPr/>
          <p:nvPr/>
        </p:nvSpPr>
        <p:spPr>
          <a:xfrm>
            <a:off x="365760" y="1783080"/>
            <a:ext cx="1097280" cy="96012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22"/>
          <p:cNvSpPr/>
          <p:nvPr/>
        </p:nvSpPr>
        <p:spPr>
          <a:xfrm>
            <a:off x="411480" y="1783080"/>
            <a:ext cx="10058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05.12 (화)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22"/>
          <p:cNvSpPr/>
          <p:nvPr/>
        </p:nvSpPr>
        <p:spPr>
          <a:xfrm>
            <a:off x="1554480" y="185623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기획서 발표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22"/>
          <p:cNvSpPr/>
          <p:nvPr/>
        </p:nvSpPr>
        <p:spPr>
          <a:xfrm>
            <a:off x="1554480" y="2167128"/>
            <a:ext cx="2788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AI 캡스톤디자인 프로젝트 기획서</a:t>
            </a:r>
            <a:endParaRPr b="0" i="0" sz="1400" u="none" cap="none" strike="noStrike">
              <a:solidFill>
                <a:srgbClr val="546E7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 xml:space="preserve"> 발표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22"/>
          <p:cNvSpPr/>
          <p:nvPr/>
        </p:nvSpPr>
        <p:spPr>
          <a:xfrm>
            <a:off x="4709160" y="1783080"/>
            <a:ext cx="4069080" cy="96012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22"/>
          <p:cNvSpPr/>
          <p:nvPr/>
        </p:nvSpPr>
        <p:spPr>
          <a:xfrm>
            <a:off x="4709160" y="1783080"/>
            <a:ext cx="1097280" cy="96012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22"/>
          <p:cNvSpPr/>
          <p:nvPr/>
        </p:nvSpPr>
        <p:spPr>
          <a:xfrm>
            <a:off x="4754880" y="1783080"/>
            <a:ext cx="10058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05.19 (화)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22"/>
          <p:cNvSpPr/>
          <p:nvPr/>
        </p:nvSpPr>
        <p:spPr>
          <a:xfrm>
            <a:off x="5897880" y="185623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중간보고 발표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22"/>
          <p:cNvSpPr/>
          <p:nvPr/>
        </p:nvSpPr>
        <p:spPr>
          <a:xfrm>
            <a:off x="5897880" y="2167128"/>
            <a:ext cx="2788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핵심 로직 검증 및 중간 보고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22"/>
          <p:cNvSpPr/>
          <p:nvPr/>
        </p:nvSpPr>
        <p:spPr>
          <a:xfrm>
            <a:off x="365760" y="2880360"/>
            <a:ext cx="4069080" cy="96012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22"/>
          <p:cNvSpPr/>
          <p:nvPr/>
        </p:nvSpPr>
        <p:spPr>
          <a:xfrm>
            <a:off x="365760" y="2880360"/>
            <a:ext cx="1097280" cy="96012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22"/>
          <p:cNvSpPr/>
          <p:nvPr/>
        </p:nvSpPr>
        <p:spPr>
          <a:xfrm>
            <a:off x="411480" y="2880360"/>
            <a:ext cx="10058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06.02 (화)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22"/>
          <p:cNvSpPr/>
          <p:nvPr/>
        </p:nvSpPr>
        <p:spPr>
          <a:xfrm>
            <a:off x="1554480" y="295351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1학기 최종보고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22"/>
          <p:cNvSpPr/>
          <p:nvPr/>
        </p:nvSpPr>
        <p:spPr>
          <a:xfrm>
            <a:off x="1554480" y="3264408"/>
            <a:ext cx="2788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프로토타입 시연 및 1학기 결과 보고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22"/>
          <p:cNvSpPr/>
          <p:nvPr/>
        </p:nvSpPr>
        <p:spPr>
          <a:xfrm>
            <a:off x="4709160" y="2880360"/>
            <a:ext cx="4069080" cy="96012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22"/>
          <p:cNvSpPr/>
          <p:nvPr/>
        </p:nvSpPr>
        <p:spPr>
          <a:xfrm>
            <a:off x="4709160" y="2880360"/>
            <a:ext cx="1097280" cy="96012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22"/>
          <p:cNvSpPr/>
          <p:nvPr/>
        </p:nvSpPr>
        <p:spPr>
          <a:xfrm>
            <a:off x="4754880" y="2880360"/>
            <a:ext cx="10058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09.30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22"/>
          <p:cNvSpPr/>
          <p:nvPr/>
        </p:nvSpPr>
        <p:spPr>
          <a:xfrm>
            <a:off x="5897880" y="295351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고도화 완료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22"/>
          <p:cNvSpPr/>
          <p:nvPr/>
        </p:nvSpPr>
        <p:spPr>
          <a:xfrm>
            <a:off x="5897880" y="3264408"/>
            <a:ext cx="2788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각 파트별 상용 수준 기능 구현 완료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22"/>
          <p:cNvSpPr/>
          <p:nvPr/>
        </p:nvSpPr>
        <p:spPr>
          <a:xfrm>
            <a:off x="365760" y="3977640"/>
            <a:ext cx="4069080" cy="96012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22"/>
          <p:cNvSpPr/>
          <p:nvPr/>
        </p:nvSpPr>
        <p:spPr>
          <a:xfrm>
            <a:off x="365760" y="3977640"/>
            <a:ext cx="1097280" cy="96012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22"/>
          <p:cNvSpPr/>
          <p:nvPr/>
        </p:nvSpPr>
        <p:spPr>
          <a:xfrm>
            <a:off x="411480" y="3977640"/>
            <a:ext cx="10058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10.01~11.15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22"/>
          <p:cNvSpPr/>
          <p:nvPr/>
        </p:nvSpPr>
        <p:spPr>
          <a:xfrm>
            <a:off x="1554480" y="405079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통합 &amp; QA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22"/>
          <p:cNvSpPr/>
          <p:nvPr/>
        </p:nvSpPr>
        <p:spPr>
          <a:xfrm>
            <a:off x="1554480" y="4361688"/>
            <a:ext cx="2788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 xml:space="preserve">시스템 통합 · 전체 디버깅 · 품질 </a:t>
            </a:r>
            <a:endParaRPr b="0" i="0" sz="1400" u="none" cap="none" strike="noStrike">
              <a:solidFill>
                <a:srgbClr val="546E7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검증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22"/>
          <p:cNvSpPr/>
          <p:nvPr/>
        </p:nvSpPr>
        <p:spPr>
          <a:xfrm>
            <a:off x="4709160" y="3977640"/>
            <a:ext cx="4069080" cy="96012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22"/>
          <p:cNvSpPr/>
          <p:nvPr/>
        </p:nvSpPr>
        <p:spPr>
          <a:xfrm>
            <a:off x="4709160" y="3977640"/>
            <a:ext cx="1097280" cy="960120"/>
          </a:xfrm>
          <a:prstGeom prst="rect">
            <a:avLst/>
          </a:prstGeom>
          <a:solidFill>
            <a:srgbClr val="00796B"/>
          </a:solidFill>
          <a:ln cap="flat" cmpd="sng" w="12700">
            <a:solidFill>
              <a:srgbClr val="007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22"/>
          <p:cNvSpPr/>
          <p:nvPr/>
        </p:nvSpPr>
        <p:spPr>
          <a:xfrm>
            <a:off x="4754880" y="3977640"/>
            <a:ext cx="10058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12.04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22"/>
          <p:cNvSpPr/>
          <p:nvPr/>
        </p:nvSpPr>
        <p:spPr>
          <a:xfrm>
            <a:off x="5897880" y="405079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최종 배포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22"/>
          <p:cNvSpPr/>
          <p:nvPr/>
        </p:nvSpPr>
        <p:spPr>
          <a:xfrm>
            <a:off x="5897880" y="4361688"/>
            <a:ext cx="2788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 xml:space="preserve">서비스 배포 및 프로젝트 최종 </a:t>
            </a:r>
            <a:endParaRPr b="0" i="0" sz="1400" u="none" cap="none" strike="noStrike">
              <a:solidFill>
                <a:srgbClr val="546E7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아카이빙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23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23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23"/>
          <p:cNvSpPr/>
          <p:nvPr/>
        </p:nvSpPr>
        <p:spPr>
          <a:xfrm>
            <a:off x="365760" y="118872"/>
            <a:ext cx="54864" cy="384048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23"/>
          <p:cNvSpPr/>
          <p:nvPr/>
        </p:nvSpPr>
        <p:spPr>
          <a:xfrm>
            <a:off x="493776" y="118872"/>
            <a:ext cx="8284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3.2  프로토타입 개발 계획 (1학기 말 목표)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23"/>
          <p:cNvSpPr/>
          <p:nvPr/>
        </p:nvSpPr>
        <p:spPr>
          <a:xfrm>
            <a:off x="365760" y="658368"/>
            <a:ext cx="2651760" cy="416052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23"/>
          <p:cNvSpPr/>
          <p:nvPr/>
        </p:nvSpPr>
        <p:spPr>
          <a:xfrm>
            <a:off x="365760" y="658368"/>
            <a:ext cx="2651760" cy="45720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23"/>
          <p:cNvSpPr/>
          <p:nvPr/>
        </p:nvSpPr>
        <p:spPr>
          <a:xfrm>
            <a:off x="457200" y="658368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고정밀 피부 분석 엔진 (AI)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23"/>
          <p:cNvSpPr/>
          <p:nvPr/>
        </p:nvSpPr>
        <p:spPr>
          <a:xfrm>
            <a:off x="475488" y="1234440"/>
            <a:ext cx="2432304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23"/>
          <p:cNvSpPr/>
          <p:nvPr/>
        </p:nvSpPr>
        <p:spPr>
          <a:xfrm>
            <a:off x="475488" y="1234440"/>
            <a:ext cx="54864" cy="100584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23"/>
          <p:cNvSpPr/>
          <p:nvPr/>
        </p:nvSpPr>
        <p:spPr>
          <a:xfrm>
            <a:off x="594360" y="1325880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OpenCV CLAHE 조명 보정 및 ROI 추출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23"/>
          <p:cNvSpPr/>
          <p:nvPr/>
        </p:nvSpPr>
        <p:spPr>
          <a:xfrm>
            <a:off x="475488" y="2377440"/>
            <a:ext cx="2432304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23"/>
          <p:cNvSpPr/>
          <p:nvPr/>
        </p:nvSpPr>
        <p:spPr>
          <a:xfrm>
            <a:off x="475488" y="2377440"/>
            <a:ext cx="54864" cy="100584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23"/>
          <p:cNvSpPr/>
          <p:nvPr/>
        </p:nvSpPr>
        <p:spPr>
          <a:xfrm>
            <a:off x="594360" y="2468880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YOLOv8 4대 지표 (여드름·모공·홍조·피지) 탐지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23"/>
          <p:cNvSpPr/>
          <p:nvPr/>
        </p:nvSpPr>
        <p:spPr>
          <a:xfrm>
            <a:off x="475488" y="3520440"/>
            <a:ext cx="2432304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23"/>
          <p:cNvSpPr/>
          <p:nvPr/>
        </p:nvSpPr>
        <p:spPr>
          <a:xfrm>
            <a:off x="475488" y="3520440"/>
            <a:ext cx="54864" cy="100584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23"/>
          <p:cNvSpPr/>
          <p:nvPr/>
        </p:nvSpPr>
        <p:spPr>
          <a:xfrm>
            <a:off x="594360" y="3611880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100점 만점 정량화 알고리즘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23"/>
          <p:cNvSpPr/>
          <p:nvPr/>
        </p:nvSpPr>
        <p:spPr>
          <a:xfrm>
            <a:off x="3200400" y="658368"/>
            <a:ext cx="2651760" cy="416052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23"/>
          <p:cNvSpPr/>
          <p:nvPr/>
        </p:nvSpPr>
        <p:spPr>
          <a:xfrm>
            <a:off x="3200400" y="658368"/>
            <a:ext cx="2651760" cy="457200"/>
          </a:xfrm>
          <a:prstGeom prst="rect">
            <a:avLst/>
          </a:prstGeom>
          <a:solidFill>
            <a:srgbClr val="00796B"/>
          </a:solidFill>
          <a:ln cap="flat" cmpd="sng" w="12700">
            <a:solidFill>
              <a:srgbClr val="007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23"/>
          <p:cNvSpPr/>
          <p:nvPr/>
        </p:nvSpPr>
        <p:spPr>
          <a:xfrm>
            <a:off x="3291840" y="658368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지능형 리포트 및 시각화 (UI/UX)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23"/>
          <p:cNvSpPr/>
          <p:nvPr/>
        </p:nvSpPr>
        <p:spPr>
          <a:xfrm>
            <a:off x="3310128" y="1234440"/>
            <a:ext cx="2432304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23"/>
          <p:cNvSpPr/>
          <p:nvPr/>
        </p:nvSpPr>
        <p:spPr>
          <a:xfrm>
            <a:off x="3310128" y="1234440"/>
            <a:ext cx="54864" cy="1005840"/>
          </a:xfrm>
          <a:prstGeom prst="rect">
            <a:avLst/>
          </a:prstGeom>
          <a:solidFill>
            <a:srgbClr val="00796B"/>
          </a:solidFill>
          <a:ln cap="flat" cmpd="sng" w="12700">
            <a:solidFill>
              <a:srgbClr val="007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23"/>
          <p:cNvSpPr/>
          <p:nvPr/>
        </p:nvSpPr>
        <p:spPr>
          <a:xfrm>
            <a:off x="3429000" y="1325880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분석 수치 기반 자연어 진단서 발행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23"/>
          <p:cNvSpPr/>
          <p:nvPr/>
        </p:nvSpPr>
        <p:spPr>
          <a:xfrm>
            <a:off x="3310128" y="2377440"/>
            <a:ext cx="2432304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23"/>
          <p:cNvSpPr/>
          <p:nvPr/>
        </p:nvSpPr>
        <p:spPr>
          <a:xfrm>
            <a:off x="3310128" y="2377440"/>
            <a:ext cx="54864" cy="1005840"/>
          </a:xfrm>
          <a:prstGeom prst="rect">
            <a:avLst/>
          </a:prstGeom>
          <a:solidFill>
            <a:srgbClr val="00796B"/>
          </a:solidFill>
          <a:ln cap="flat" cmpd="sng" w="12700">
            <a:solidFill>
              <a:srgbClr val="007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23"/>
          <p:cNvSpPr/>
          <p:nvPr/>
        </p:nvSpPr>
        <p:spPr>
          <a:xfrm>
            <a:off x="3429000" y="2468880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과거 진단 이력 시계열 꺾은선 그래프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23"/>
          <p:cNvSpPr/>
          <p:nvPr/>
        </p:nvSpPr>
        <p:spPr>
          <a:xfrm>
            <a:off x="3310128" y="3520440"/>
            <a:ext cx="2432304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23"/>
          <p:cNvSpPr/>
          <p:nvPr/>
        </p:nvSpPr>
        <p:spPr>
          <a:xfrm>
            <a:off x="3310128" y="3520440"/>
            <a:ext cx="54864" cy="1005840"/>
          </a:xfrm>
          <a:prstGeom prst="rect">
            <a:avLst/>
          </a:prstGeom>
          <a:solidFill>
            <a:srgbClr val="00796B"/>
          </a:solidFill>
          <a:ln cap="flat" cmpd="sng" w="12700">
            <a:solidFill>
              <a:srgbClr val="007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23"/>
          <p:cNvSpPr/>
          <p:nvPr/>
        </p:nvSpPr>
        <p:spPr>
          <a:xfrm>
            <a:off x="3429000" y="3611880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피부 변화 체감 대시보드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23"/>
          <p:cNvSpPr/>
          <p:nvPr/>
        </p:nvSpPr>
        <p:spPr>
          <a:xfrm>
            <a:off x="6035040" y="658368"/>
            <a:ext cx="2651760" cy="416052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23"/>
          <p:cNvSpPr/>
          <p:nvPr/>
        </p:nvSpPr>
        <p:spPr>
          <a:xfrm>
            <a:off x="6035040" y="658368"/>
            <a:ext cx="2651760" cy="457200"/>
          </a:xfrm>
          <a:prstGeom prst="rect">
            <a:avLst/>
          </a:prstGeom>
          <a:solidFill>
            <a:srgbClr val="00BCD4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23"/>
          <p:cNvSpPr/>
          <p:nvPr/>
        </p:nvSpPr>
        <p:spPr>
          <a:xfrm>
            <a:off x="6126480" y="658368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스킨케어 루틴 큐레이션 (LLM)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23"/>
          <p:cNvSpPr/>
          <p:nvPr/>
        </p:nvSpPr>
        <p:spPr>
          <a:xfrm>
            <a:off x="6144768" y="1234440"/>
            <a:ext cx="2432304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23"/>
          <p:cNvSpPr/>
          <p:nvPr/>
        </p:nvSpPr>
        <p:spPr>
          <a:xfrm>
            <a:off x="6144768" y="1234440"/>
            <a:ext cx="54864" cy="1005840"/>
          </a:xfrm>
          <a:prstGeom prst="rect">
            <a:avLst/>
          </a:prstGeom>
          <a:solidFill>
            <a:srgbClr val="00BCD4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23"/>
          <p:cNvSpPr/>
          <p:nvPr/>
        </p:nvSpPr>
        <p:spPr>
          <a:xfrm>
            <a:off x="6263640" y="1325880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ChatGPT/Claude API 연동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23"/>
          <p:cNvSpPr/>
          <p:nvPr/>
        </p:nvSpPr>
        <p:spPr>
          <a:xfrm>
            <a:off x="6144768" y="2377440"/>
            <a:ext cx="2432304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23"/>
          <p:cNvSpPr/>
          <p:nvPr/>
        </p:nvSpPr>
        <p:spPr>
          <a:xfrm>
            <a:off x="6144768" y="2377440"/>
            <a:ext cx="54864" cy="1005840"/>
          </a:xfrm>
          <a:prstGeom prst="rect">
            <a:avLst/>
          </a:prstGeom>
          <a:solidFill>
            <a:srgbClr val="00BCD4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23"/>
          <p:cNvSpPr/>
          <p:nvPr/>
        </p:nvSpPr>
        <p:spPr>
          <a:xfrm>
            <a:off x="6263640" y="2468880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현재 피부 상태 최적화된 아침/저녁 루틴 생성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23"/>
          <p:cNvSpPr/>
          <p:nvPr/>
        </p:nvSpPr>
        <p:spPr>
          <a:xfrm>
            <a:off x="6144768" y="3520440"/>
            <a:ext cx="2432304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23"/>
          <p:cNvSpPr/>
          <p:nvPr/>
        </p:nvSpPr>
        <p:spPr>
          <a:xfrm>
            <a:off x="6144768" y="3520440"/>
            <a:ext cx="54864" cy="1005840"/>
          </a:xfrm>
          <a:prstGeom prst="rect">
            <a:avLst/>
          </a:prstGeom>
          <a:solidFill>
            <a:srgbClr val="00BCD4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23"/>
          <p:cNvSpPr/>
          <p:nvPr/>
        </p:nvSpPr>
        <p:spPr>
          <a:xfrm>
            <a:off x="6263640" y="3611880"/>
            <a:ext cx="2240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제품 성분 적합성 판별 보고서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ECEF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24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24"/>
          <p:cNvSpPr/>
          <p:nvPr/>
        </p:nvSpPr>
        <p:spPr>
          <a:xfrm>
            <a:off x="640080" y="1371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SECTION 05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24"/>
          <p:cNvSpPr/>
          <p:nvPr/>
        </p:nvSpPr>
        <p:spPr>
          <a:xfrm>
            <a:off x="640080" y="192024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사용자 테스트 계획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24"/>
          <p:cNvSpPr/>
          <p:nvPr/>
        </p:nvSpPr>
        <p:spPr>
          <a:xfrm>
            <a:off x="640080" y="28346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테스트 대상 · 수행 과업 · 평가 지표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25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25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25"/>
          <p:cNvSpPr/>
          <p:nvPr/>
        </p:nvSpPr>
        <p:spPr>
          <a:xfrm>
            <a:off x="365760" y="118872"/>
            <a:ext cx="54864" cy="384048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25"/>
          <p:cNvSpPr/>
          <p:nvPr/>
        </p:nvSpPr>
        <p:spPr>
          <a:xfrm>
            <a:off x="493776" y="118872"/>
            <a:ext cx="8284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3.3  사용자 테스트 및 설문 계획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25"/>
          <p:cNvSpPr/>
          <p:nvPr/>
        </p:nvSpPr>
        <p:spPr>
          <a:xfrm>
            <a:off x="365760" y="685800"/>
            <a:ext cx="3840480" cy="841248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25"/>
          <p:cNvSpPr/>
          <p:nvPr/>
        </p:nvSpPr>
        <p:spPr>
          <a:xfrm>
            <a:off x="365760" y="685800"/>
            <a:ext cx="1188720" cy="841248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25"/>
          <p:cNvSpPr/>
          <p:nvPr/>
        </p:nvSpPr>
        <p:spPr>
          <a:xfrm>
            <a:off x="365760" y="685800"/>
            <a:ext cx="118872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테스트 대상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25"/>
          <p:cNvSpPr/>
          <p:nvPr/>
        </p:nvSpPr>
        <p:spPr>
          <a:xfrm>
            <a:off x="1645920" y="685800"/>
            <a:ext cx="24688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2030 세대 외부 사용자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20명 이상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25"/>
          <p:cNvSpPr/>
          <p:nvPr/>
        </p:nvSpPr>
        <p:spPr>
          <a:xfrm>
            <a:off x="365760" y="1645920"/>
            <a:ext cx="3840480" cy="841248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25"/>
          <p:cNvSpPr/>
          <p:nvPr/>
        </p:nvSpPr>
        <p:spPr>
          <a:xfrm>
            <a:off x="365760" y="1645920"/>
            <a:ext cx="1188720" cy="841248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25"/>
          <p:cNvSpPr/>
          <p:nvPr/>
        </p:nvSpPr>
        <p:spPr>
          <a:xfrm>
            <a:off x="365760" y="1645920"/>
            <a:ext cx="118872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테스트 환경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25"/>
          <p:cNvSpPr/>
          <p:nvPr/>
        </p:nvSpPr>
        <p:spPr>
          <a:xfrm>
            <a:off x="1645920" y="1645920"/>
            <a:ext cx="24688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형광등 · 자연광 · 저조도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다양한 조명 환경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25"/>
          <p:cNvSpPr/>
          <p:nvPr/>
        </p:nvSpPr>
        <p:spPr>
          <a:xfrm>
            <a:off x="365910" y="2602678"/>
            <a:ext cx="3840600" cy="8412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25"/>
          <p:cNvSpPr/>
          <p:nvPr/>
        </p:nvSpPr>
        <p:spPr>
          <a:xfrm>
            <a:off x="365910" y="2602678"/>
            <a:ext cx="1188600" cy="84120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25"/>
          <p:cNvSpPr/>
          <p:nvPr/>
        </p:nvSpPr>
        <p:spPr>
          <a:xfrm>
            <a:off x="365910" y="2602678"/>
            <a:ext cx="11886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평가 척도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25"/>
          <p:cNvSpPr/>
          <p:nvPr/>
        </p:nvSpPr>
        <p:spPr>
          <a:xfrm>
            <a:off x="1645920" y="2606040"/>
            <a:ext cx="24688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5점 척도 설문 + NPS 지수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25"/>
          <p:cNvSpPr/>
          <p:nvPr/>
        </p:nvSpPr>
        <p:spPr>
          <a:xfrm>
            <a:off x="365760" y="299923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수행 과업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25"/>
          <p:cNvSpPr/>
          <p:nvPr/>
        </p:nvSpPr>
        <p:spPr>
          <a:xfrm>
            <a:off x="365835" y="3675965"/>
            <a:ext cx="255900" cy="25590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25"/>
          <p:cNvSpPr/>
          <p:nvPr/>
        </p:nvSpPr>
        <p:spPr>
          <a:xfrm>
            <a:off x="365610" y="3647378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25"/>
          <p:cNvSpPr/>
          <p:nvPr/>
        </p:nvSpPr>
        <p:spPr>
          <a:xfrm>
            <a:off x="685825" y="3686178"/>
            <a:ext cx="3520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회원가입 및 피부 설문 작성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25"/>
          <p:cNvSpPr/>
          <p:nvPr/>
        </p:nvSpPr>
        <p:spPr>
          <a:xfrm>
            <a:off x="365535" y="4009645"/>
            <a:ext cx="255900" cy="25590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25"/>
          <p:cNvSpPr/>
          <p:nvPr/>
        </p:nvSpPr>
        <p:spPr>
          <a:xfrm>
            <a:off x="365610" y="4018795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25"/>
          <p:cNvSpPr/>
          <p:nvPr/>
        </p:nvSpPr>
        <p:spPr>
          <a:xfrm>
            <a:off x="685800" y="4009645"/>
            <a:ext cx="3520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스마트폰 카메라 안면 촬영 및 사진 업로드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25"/>
          <p:cNvSpPr/>
          <p:nvPr/>
        </p:nvSpPr>
        <p:spPr>
          <a:xfrm>
            <a:off x="365760" y="4352549"/>
            <a:ext cx="255900" cy="25590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25"/>
          <p:cNvSpPr/>
          <p:nvPr/>
        </p:nvSpPr>
        <p:spPr>
          <a:xfrm>
            <a:off x="365685" y="4352549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25"/>
          <p:cNvSpPr/>
          <p:nvPr/>
        </p:nvSpPr>
        <p:spPr>
          <a:xfrm>
            <a:off x="685800" y="4373124"/>
            <a:ext cx="3520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AI 분석 결과(4대 지표) 확인 및 그래프 가독성 점검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25"/>
          <p:cNvSpPr/>
          <p:nvPr/>
        </p:nvSpPr>
        <p:spPr>
          <a:xfrm>
            <a:off x="365760" y="4727441"/>
            <a:ext cx="255900" cy="25590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25"/>
          <p:cNvSpPr/>
          <p:nvPr/>
        </p:nvSpPr>
        <p:spPr>
          <a:xfrm>
            <a:off x="365835" y="4766366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25"/>
          <p:cNvSpPr/>
          <p:nvPr/>
        </p:nvSpPr>
        <p:spPr>
          <a:xfrm>
            <a:off x="685800" y="4727441"/>
            <a:ext cx="4155558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보유 화장품 성분 분석 및 AI 추천 루틴 적합성 평가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25"/>
          <p:cNvSpPr/>
          <p:nvPr/>
        </p:nvSpPr>
        <p:spPr>
          <a:xfrm>
            <a:off x="4663440" y="68580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목표 점수 (5점 만점)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25"/>
          <p:cNvSpPr/>
          <p:nvPr/>
        </p:nvSpPr>
        <p:spPr>
          <a:xfrm>
            <a:off x="4663440" y="1024128"/>
            <a:ext cx="4114800" cy="6858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25"/>
          <p:cNvSpPr/>
          <p:nvPr/>
        </p:nvSpPr>
        <p:spPr>
          <a:xfrm>
            <a:off x="4754880" y="109728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피부 분석 정확도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25"/>
          <p:cNvSpPr/>
          <p:nvPr/>
        </p:nvSpPr>
        <p:spPr>
          <a:xfrm>
            <a:off x="7406640" y="109728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100"/>
              <a:buFont typeface="Calibri"/>
              <a:buNone/>
            </a:pPr>
            <a:r>
              <a:rPr b="1" i="0" lang="en-US" sz="14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4.2 / 5.0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25"/>
          <p:cNvSpPr/>
          <p:nvPr/>
        </p:nvSpPr>
        <p:spPr>
          <a:xfrm>
            <a:off x="4754880" y="1408176"/>
            <a:ext cx="3840480" cy="164592"/>
          </a:xfrm>
          <a:prstGeom prst="rect">
            <a:avLst/>
          </a:prstGeom>
          <a:solidFill>
            <a:srgbClr val="B0BEC5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p25"/>
          <p:cNvSpPr/>
          <p:nvPr/>
        </p:nvSpPr>
        <p:spPr>
          <a:xfrm>
            <a:off x="4754880" y="1408176"/>
            <a:ext cx="3226003" cy="164592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25"/>
          <p:cNvSpPr/>
          <p:nvPr/>
        </p:nvSpPr>
        <p:spPr>
          <a:xfrm>
            <a:off x="4663440" y="1828800"/>
            <a:ext cx="4114800" cy="6858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25"/>
          <p:cNvSpPr/>
          <p:nvPr/>
        </p:nvSpPr>
        <p:spPr>
          <a:xfrm>
            <a:off x="4754880" y="190195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루틴 추천 적합성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25"/>
          <p:cNvSpPr/>
          <p:nvPr/>
        </p:nvSpPr>
        <p:spPr>
          <a:xfrm>
            <a:off x="7406640" y="190195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100"/>
              <a:buFont typeface="Calibri"/>
              <a:buNone/>
            </a:pPr>
            <a:r>
              <a:rPr b="1" i="0" lang="en-US" sz="14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4 / 5.0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25"/>
          <p:cNvSpPr/>
          <p:nvPr/>
        </p:nvSpPr>
        <p:spPr>
          <a:xfrm>
            <a:off x="4754880" y="2212848"/>
            <a:ext cx="3840480" cy="164592"/>
          </a:xfrm>
          <a:prstGeom prst="rect">
            <a:avLst/>
          </a:prstGeom>
          <a:solidFill>
            <a:srgbClr val="B0BEC5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25"/>
          <p:cNvSpPr/>
          <p:nvPr/>
        </p:nvSpPr>
        <p:spPr>
          <a:xfrm>
            <a:off x="4754880" y="2212848"/>
            <a:ext cx="3072384" cy="164592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25"/>
          <p:cNvSpPr/>
          <p:nvPr/>
        </p:nvSpPr>
        <p:spPr>
          <a:xfrm>
            <a:off x="4663440" y="2633472"/>
            <a:ext cx="4114800" cy="6858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25"/>
          <p:cNvSpPr/>
          <p:nvPr/>
        </p:nvSpPr>
        <p:spPr>
          <a:xfrm>
            <a:off x="4754880" y="2706624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UI/UX 직관성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25"/>
          <p:cNvSpPr/>
          <p:nvPr/>
        </p:nvSpPr>
        <p:spPr>
          <a:xfrm>
            <a:off x="7406640" y="2706624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100"/>
              <a:buFont typeface="Calibri"/>
              <a:buNone/>
            </a:pPr>
            <a:r>
              <a:rPr b="1" i="0" lang="en-US" sz="14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4.5 / 5.0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25"/>
          <p:cNvSpPr/>
          <p:nvPr/>
        </p:nvSpPr>
        <p:spPr>
          <a:xfrm>
            <a:off x="4754880" y="3017520"/>
            <a:ext cx="3840480" cy="164592"/>
          </a:xfrm>
          <a:prstGeom prst="rect">
            <a:avLst/>
          </a:prstGeom>
          <a:solidFill>
            <a:srgbClr val="B0BEC5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25"/>
          <p:cNvSpPr/>
          <p:nvPr/>
        </p:nvSpPr>
        <p:spPr>
          <a:xfrm>
            <a:off x="4754880" y="3017520"/>
            <a:ext cx="3456432" cy="164592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25"/>
          <p:cNvSpPr/>
          <p:nvPr/>
        </p:nvSpPr>
        <p:spPr>
          <a:xfrm>
            <a:off x="4663440" y="3438144"/>
            <a:ext cx="4114800" cy="6858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25"/>
          <p:cNvSpPr/>
          <p:nvPr/>
        </p:nvSpPr>
        <p:spPr>
          <a:xfrm>
            <a:off x="4754880" y="3511296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가독성 및 편의성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25"/>
          <p:cNvSpPr/>
          <p:nvPr/>
        </p:nvSpPr>
        <p:spPr>
          <a:xfrm>
            <a:off x="7406640" y="3511296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100"/>
              <a:buFont typeface="Calibri"/>
              <a:buNone/>
            </a:pPr>
            <a:r>
              <a:rPr b="1" i="0" lang="en-US" sz="14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4.3 / 5.0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25"/>
          <p:cNvSpPr/>
          <p:nvPr/>
        </p:nvSpPr>
        <p:spPr>
          <a:xfrm>
            <a:off x="4754880" y="3822192"/>
            <a:ext cx="3840480" cy="164592"/>
          </a:xfrm>
          <a:prstGeom prst="rect">
            <a:avLst/>
          </a:prstGeom>
          <a:solidFill>
            <a:srgbClr val="B0BEC5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25"/>
          <p:cNvSpPr/>
          <p:nvPr/>
        </p:nvSpPr>
        <p:spPr>
          <a:xfrm>
            <a:off x="4754880" y="3822192"/>
            <a:ext cx="3302813" cy="164592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25"/>
          <p:cNvSpPr/>
          <p:nvPr/>
        </p:nvSpPr>
        <p:spPr>
          <a:xfrm>
            <a:off x="4663440" y="4242816"/>
            <a:ext cx="4114800" cy="6858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25"/>
          <p:cNvSpPr/>
          <p:nvPr/>
        </p:nvSpPr>
        <p:spPr>
          <a:xfrm>
            <a:off x="4754880" y="431596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서비스 재사용 의향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25"/>
          <p:cNvSpPr/>
          <p:nvPr/>
        </p:nvSpPr>
        <p:spPr>
          <a:xfrm>
            <a:off x="7406640" y="431596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100"/>
              <a:buFont typeface="Calibri"/>
              <a:buNone/>
            </a:pPr>
            <a:r>
              <a:rPr b="1" i="0" lang="en-US" sz="14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4 / 5.0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25"/>
          <p:cNvSpPr/>
          <p:nvPr/>
        </p:nvSpPr>
        <p:spPr>
          <a:xfrm>
            <a:off x="4754880" y="4626864"/>
            <a:ext cx="3840480" cy="164592"/>
          </a:xfrm>
          <a:prstGeom prst="rect">
            <a:avLst/>
          </a:prstGeom>
          <a:solidFill>
            <a:srgbClr val="B0BEC5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25"/>
          <p:cNvSpPr/>
          <p:nvPr/>
        </p:nvSpPr>
        <p:spPr>
          <a:xfrm>
            <a:off x="4754880" y="4626864"/>
            <a:ext cx="3072384" cy="164592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26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26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26"/>
          <p:cNvSpPr/>
          <p:nvPr/>
        </p:nvSpPr>
        <p:spPr>
          <a:xfrm>
            <a:off x="365760" y="118872"/>
            <a:ext cx="54864" cy="384048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26"/>
          <p:cNvSpPr/>
          <p:nvPr/>
        </p:nvSpPr>
        <p:spPr>
          <a:xfrm>
            <a:off x="493776" y="118872"/>
            <a:ext cx="8284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3.4  결과 분석 및 개선 방안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26"/>
          <p:cNvSpPr/>
          <p:nvPr/>
        </p:nvSpPr>
        <p:spPr>
          <a:xfrm>
            <a:off x="365760" y="685800"/>
            <a:ext cx="4069080" cy="132588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26"/>
          <p:cNvSpPr/>
          <p:nvPr/>
        </p:nvSpPr>
        <p:spPr>
          <a:xfrm>
            <a:off x="365760" y="685800"/>
            <a:ext cx="4069080" cy="32004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26"/>
          <p:cNvSpPr/>
          <p:nvPr/>
        </p:nvSpPr>
        <p:spPr>
          <a:xfrm>
            <a:off x="457200" y="685800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오차 분석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26"/>
          <p:cNvSpPr/>
          <p:nvPr/>
        </p:nvSpPr>
        <p:spPr>
          <a:xfrm>
            <a:off x="457200" y="1033272"/>
            <a:ext cx="3886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test.py calc_error와 사용자 설문 간 상관관계 분석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 xml:space="preserve"> 및 </a:t>
            </a: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정확도 저하 패턴 파악 및 원인 규명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26"/>
          <p:cNvSpPr/>
          <p:nvPr/>
        </p:nvSpPr>
        <p:spPr>
          <a:xfrm>
            <a:off x="4709160" y="685800"/>
            <a:ext cx="4069080" cy="132588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26"/>
          <p:cNvSpPr/>
          <p:nvPr/>
        </p:nvSpPr>
        <p:spPr>
          <a:xfrm>
            <a:off x="4709160" y="685800"/>
            <a:ext cx="4069080" cy="32004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26"/>
          <p:cNvSpPr/>
          <p:nvPr/>
        </p:nvSpPr>
        <p:spPr>
          <a:xfrm>
            <a:off x="4800600" y="685800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데이터 편향 수정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26"/>
          <p:cNvSpPr/>
          <p:nvPr/>
        </p:nvSpPr>
        <p:spPr>
          <a:xfrm>
            <a:off x="4800600" y="1033272"/>
            <a:ext cx="3886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40대 이상 특정 연령대 정확도 저하 시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해당 연령대 학습 데이터 보강 및 재학습 진행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26"/>
          <p:cNvSpPr/>
          <p:nvPr/>
        </p:nvSpPr>
        <p:spPr>
          <a:xfrm>
            <a:off x="365760" y="2148840"/>
            <a:ext cx="4069080" cy="132588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26"/>
          <p:cNvSpPr/>
          <p:nvPr/>
        </p:nvSpPr>
        <p:spPr>
          <a:xfrm>
            <a:off x="365760" y="2148840"/>
            <a:ext cx="4069080" cy="32004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26"/>
          <p:cNvSpPr/>
          <p:nvPr/>
        </p:nvSpPr>
        <p:spPr>
          <a:xfrm>
            <a:off x="457200" y="2148840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MediaPipe Face Mesh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26"/>
          <p:cNvSpPr/>
          <p:nvPr/>
        </p:nvSpPr>
        <p:spPr>
          <a:xfrm>
            <a:off x="457200" y="2496312"/>
            <a:ext cx="3886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안면 468개 랜드마크 활용 촬영 각도 보정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배경 노이즈 제거 → 분석 ROI 순수도 증가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26"/>
          <p:cNvSpPr/>
          <p:nvPr/>
        </p:nvSpPr>
        <p:spPr>
          <a:xfrm>
            <a:off x="4709160" y="2148840"/>
            <a:ext cx="4069080" cy="132588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26"/>
          <p:cNvSpPr/>
          <p:nvPr/>
        </p:nvSpPr>
        <p:spPr>
          <a:xfrm>
            <a:off x="4709160" y="2148840"/>
            <a:ext cx="4069080" cy="32004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26"/>
          <p:cNvSpPr/>
          <p:nvPr/>
        </p:nvSpPr>
        <p:spPr>
          <a:xfrm>
            <a:off x="4800600" y="2148840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조명 정규화 고도화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26"/>
          <p:cNvSpPr/>
          <p:nvPr/>
        </p:nvSpPr>
        <p:spPr>
          <a:xfrm>
            <a:off x="4800600" y="2496312"/>
            <a:ext cx="3886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OpenCV Histogram Equalization 로직 개선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극한 저조도 환경에서도 안정적인 탐지 성능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26"/>
          <p:cNvSpPr/>
          <p:nvPr/>
        </p:nvSpPr>
        <p:spPr>
          <a:xfrm>
            <a:off x="365760" y="3611880"/>
            <a:ext cx="4069080" cy="132588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26"/>
          <p:cNvSpPr/>
          <p:nvPr/>
        </p:nvSpPr>
        <p:spPr>
          <a:xfrm>
            <a:off x="365760" y="3611880"/>
            <a:ext cx="4069080" cy="32004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26"/>
          <p:cNvSpPr/>
          <p:nvPr/>
        </p:nvSpPr>
        <p:spPr>
          <a:xfrm>
            <a:off x="457200" y="3611880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 지식베이스 확장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26"/>
          <p:cNvSpPr/>
          <p:nvPr/>
        </p:nvSpPr>
        <p:spPr>
          <a:xfrm>
            <a:off x="457200" y="3959352"/>
            <a:ext cx="3886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식약처 고시 성분 외 최신 논문 기반 효능 성분 추가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RAG 기술 활용한 전문성 강화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26"/>
          <p:cNvSpPr/>
          <p:nvPr/>
        </p:nvSpPr>
        <p:spPr>
          <a:xfrm>
            <a:off x="4709160" y="3611880"/>
            <a:ext cx="4069080" cy="132588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26"/>
          <p:cNvSpPr/>
          <p:nvPr/>
        </p:nvSpPr>
        <p:spPr>
          <a:xfrm>
            <a:off x="4709160" y="3611880"/>
            <a:ext cx="4069080" cy="32004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26"/>
          <p:cNvSpPr/>
          <p:nvPr/>
        </p:nvSpPr>
        <p:spPr>
          <a:xfrm>
            <a:off x="4800600" y="3611880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개인화 가중치 적용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26"/>
          <p:cNvSpPr/>
          <p:nvPr/>
        </p:nvSpPr>
        <p:spPr>
          <a:xfrm>
            <a:off x="4800600" y="3959352"/>
            <a:ext cx="3886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알레르기 성분 필터링 강도 강화 (하드코딩 + LLM)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사용자 설정 기반 맞춤 추천 정밀도 향상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ECEF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27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27"/>
          <p:cNvSpPr/>
          <p:nvPr/>
        </p:nvSpPr>
        <p:spPr>
          <a:xfrm>
            <a:off x="640080" y="1371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SECTION 06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27"/>
          <p:cNvSpPr/>
          <p:nvPr/>
        </p:nvSpPr>
        <p:spPr>
          <a:xfrm>
            <a:off x="640080" y="192024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기대효과 및 향후 발전 방향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27"/>
          <p:cNvSpPr/>
          <p:nvPr/>
        </p:nvSpPr>
        <p:spPr>
          <a:xfrm>
            <a:off x="640080" y="28346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산업적 효과 · 한계점 · 후속 연구 방향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28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28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28"/>
          <p:cNvSpPr/>
          <p:nvPr/>
        </p:nvSpPr>
        <p:spPr>
          <a:xfrm>
            <a:off x="365760" y="118872"/>
            <a:ext cx="54864" cy="384048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28"/>
          <p:cNvSpPr/>
          <p:nvPr/>
        </p:nvSpPr>
        <p:spPr>
          <a:xfrm>
            <a:off x="493776" y="118872"/>
            <a:ext cx="8284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4.1  기대효과 요약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28"/>
          <p:cNvSpPr/>
          <p:nvPr/>
        </p:nvSpPr>
        <p:spPr>
          <a:xfrm>
            <a:off x="365760" y="658368"/>
            <a:ext cx="2651760" cy="416052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28"/>
          <p:cNvSpPr/>
          <p:nvPr/>
        </p:nvSpPr>
        <p:spPr>
          <a:xfrm>
            <a:off x="365760" y="658368"/>
            <a:ext cx="2651760" cy="64008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28"/>
          <p:cNvSpPr/>
          <p:nvPr/>
        </p:nvSpPr>
        <p:spPr>
          <a:xfrm>
            <a:off x="457200" y="658368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₩  산업적 기대효과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28"/>
          <p:cNvSpPr/>
          <p:nvPr/>
        </p:nvSpPr>
        <p:spPr>
          <a:xfrm>
            <a:off x="475488" y="1417320"/>
            <a:ext cx="2432304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28"/>
          <p:cNvSpPr/>
          <p:nvPr/>
        </p:nvSpPr>
        <p:spPr>
          <a:xfrm>
            <a:off x="475488" y="1417320"/>
            <a:ext cx="54864" cy="91440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28"/>
          <p:cNvSpPr/>
          <p:nvPr/>
        </p:nvSpPr>
        <p:spPr>
          <a:xfrm>
            <a:off x="594360" y="1490472"/>
            <a:ext cx="22402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 xml:space="preserve">고가의 기기 없이 </a:t>
            </a:r>
            <a:endParaRPr b="0" i="0" sz="160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 xml:space="preserve">앱만으로 가능한 </a:t>
            </a:r>
            <a:endParaRPr b="0" i="0" sz="160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진단 솔루션 제시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28"/>
          <p:cNvSpPr/>
          <p:nvPr/>
        </p:nvSpPr>
        <p:spPr>
          <a:xfrm>
            <a:off x="475488" y="2468880"/>
            <a:ext cx="2432304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28"/>
          <p:cNvSpPr/>
          <p:nvPr/>
        </p:nvSpPr>
        <p:spPr>
          <a:xfrm>
            <a:off x="475488" y="2468880"/>
            <a:ext cx="54864" cy="91440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28"/>
          <p:cNvSpPr/>
          <p:nvPr/>
        </p:nvSpPr>
        <p:spPr>
          <a:xfrm>
            <a:off x="594360" y="2542032"/>
            <a:ext cx="22402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 xml:space="preserve">K-뷰티 테크 시장의 </a:t>
            </a:r>
            <a:endParaRPr b="0" i="0" sz="160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 xml:space="preserve">새로운 비즈니스 모델 </a:t>
            </a:r>
            <a:endParaRPr b="0" i="0" sz="160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창출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28"/>
          <p:cNvSpPr/>
          <p:nvPr/>
        </p:nvSpPr>
        <p:spPr>
          <a:xfrm>
            <a:off x="475488" y="3520440"/>
            <a:ext cx="2432304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28"/>
          <p:cNvSpPr/>
          <p:nvPr/>
        </p:nvSpPr>
        <p:spPr>
          <a:xfrm>
            <a:off x="475488" y="3520440"/>
            <a:ext cx="54864" cy="91440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28"/>
          <p:cNvSpPr/>
          <p:nvPr/>
        </p:nvSpPr>
        <p:spPr>
          <a:xfrm>
            <a:off x="594360" y="3593592"/>
            <a:ext cx="22402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 xml:space="preserve">화장품 구독 서비스 등 </a:t>
            </a:r>
            <a:endParaRPr b="0" i="0" sz="1600" u="none" cap="none" strike="noStrike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수익화 모델 확장 가능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28"/>
          <p:cNvSpPr/>
          <p:nvPr/>
        </p:nvSpPr>
        <p:spPr>
          <a:xfrm>
            <a:off x="3200400" y="658368"/>
            <a:ext cx="2651760" cy="416052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28"/>
          <p:cNvSpPr/>
          <p:nvPr/>
        </p:nvSpPr>
        <p:spPr>
          <a:xfrm>
            <a:off x="3200400" y="658368"/>
            <a:ext cx="2651760" cy="640080"/>
          </a:xfrm>
          <a:prstGeom prst="rect">
            <a:avLst/>
          </a:prstGeom>
          <a:solidFill>
            <a:srgbClr val="00796B"/>
          </a:solidFill>
          <a:ln cap="flat" cmpd="sng" w="12700">
            <a:solidFill>
              <a:srgbClr val="007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p28"/>
          <p:cNvSpPr/>
          <p:nvPr/>
        </p:nvSpPr>
        <p:spPr>
          <a:xfrm>
            <a:off x="3291840" y="658368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▶  교육적 기대효과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28"/>
          <p:cNvSpPr/>
          <p:nvPr/>
        </p:nvSpPr>
        <p:spPr>
          <a:xfrm>
            <a:off x="3310128" y="1417320"/>
            <a:ext cx="2432304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28"/>
          <p:cNvSpPr/>
          <p:nvPr/>
        </p:nvSpPr>
        <p:spPr>
          <a:xfrm>
            <a:off x="3310128" y="1417320"/>
            <a:ext cx="54864" cy="914400"/>
          </a:xfrm>
          <a:prstGeom prst="rect">
            <a:avLst/>
          </a:prstGeom>
          <a:solidFill>
            <a:srgbClr val="00796B"/>
          </a:solidFill>
          <a:ln cap="flat" cmpd="sng" w="12700">
            <a:solidFill>
              <a:srgbClr val="007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28"/>
          <p:cNvSpPr/>
          <p:nvPr/>
        </p:nvSpPr>
        <p:spPr>
          <a:xfrm>
            <a:off x="3429000" y="1490472"/>
            <a:ext cx="22402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데이터 수집~모델 배포~LLM 연동 Full-stack AI 파이프라인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5" name="Google Shape;1215;p28"/>
          <p:cNvSpPr/>
          <p:nvPr/>
        </p:nvSpPr>
        <p:spPr>
          <a:xfrm>
            <a:off x="3310128" y="2468880"/>
            <a:ext cx="2432304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p28"/>
          <p:cNvSpPr/>
          <p:nvPr/>
        </p:nvSpPr>
        <p:spPr>
          <a:xfrm>
            <a:off x="3310128" y="2468880"/>
            <a:ext cx="54864" cy="914400"/>
          </a:xfrm>
          <a:prstGeom prst="rect">
            <a:avLst/>
          </a:prstGeom>
          <a:solidFill>
            <a:srgbClr val="00796B"/>
          </a:solidFill>
          <a:ln cap="flat" cmpd="sng" w="12700">
            <a:solidFill>
              <a:srgbClr val="007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p28"/>
          <p:cNvSpPr/>
          <p:nvPr/>
        </p:nvSpPr>
        <p:spPr>
          <a:xfrm>
            <a:off x="3429000" y="2542032"/>
            <a:ext cx="22402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캡스톤디자인 수준을 넘는 실무 역량 강화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p28"/>
          <p:cNvSpPr/>
          <p:nvPr/>
        </p:nvSpPr>
        <p:spPr>
          <a:xfrm>
            <a:off x="3310128" y="3520440"/>
            <a:ext cx="2432304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28"/>
          <p:cNvSpPr/>
          <p:nvPr/>
        </p:nvSpPr>
        <p:spPr>
          <a:xfrm>
            <a:off x="3310128" y="3520440"/>
            <a:ext cx="54864" cy="914400"/>
          </a:xfrm>
          <a:prstGeom prst="rect">
            <a:avLst/>
          </a:prstGeom>
          <a:solidFill>
            <a:srgbClr val="00796B"/>
          </a:solidFill>
          <a:ln cap="flat" cmpd="sng" w="12700">
            <a:solidFill>
              <a:srgbClr val="007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28"/>
          <p:cNvSpPr/>
          <p:nvPr/>
        </p:nvSpPr>
        <p:spPr>
          <a:xfrm>
            <a:off x="3429000" y="3593592"/>
            <a:ext cx="22402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YOLOv8 · FastAPI · Android 연동 실전 경험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28"/>
          <p:cNvSpPr/>
          <p:nvPr/>
        </p:nvSpPr>
        <p:spPr>
          <a:xfrm>
            <a:off x="6035040" y="658368"/>
            <a:ext cx="2651760" cy="416052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28"/>
          <p:cNvSpPr/>
          <p:nvPr/>
        </p:nvSpPr>
        <p:spPr>
          <a:xfrm>
            <a:off x="6035040" y="658368"/>
            <a:ext cx="2651760" cy="640080"/>
          </a:xfrm>
          <a:prstGeom prst="rect">
            <a:avLst/>
          </a:prstGeom>
          <a:solidFill>
            <a:srgbClr val="00BCD4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28"/>
          <p:cNvSpPr/>
          <p:nvPr/>
        </p:nvSpPr>
        <p:spPr>
          <a:xfrm>
            <a:off x="6126480" y="658368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♥  사회적 기대효과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28"/>
          <p:cNvSpPr/>
          <p:nvPr/>
        </p:nvSpPr>
        <p:spPr>
          <a:xfrm>
            <a:off x="6144768" y="1417320"/>
            <a:ext cx="2432304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p28"/>
          <p:cNvSpPr/>
          <p:nvPr/>
        </p:nvSpPr>
        <p:spPr>
          <a:xfrm>
            <a:off x="6144768" y="1417320"/>
            <a:ext cx="54864" cy="914400"/>
          </a:xfrm>
          <a:prstGeom prst="rect">
            <a:avLst/>
          </a:prstGeom>
          <a:solidFill>
            <a:srgbClr val="00BCD4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p28"/>
          <p:cNvSpPr/>
          <p:nvPr/>
        </p:nvSpPr>
        <p:spPr>
          <a:xfrm>
            <a:off x="6263640" y="1490472"/>
            <a:ext cx="22402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스킨케어 정보 격차 해소 및 대중화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p28"/>
          <p:cNvSpPr/>
          <p:nvPr/>
        </p:nvSpPr>
        <p:spPr>
          <a:xfrm>
            <a:off x="6144768" y="2468880"/>
            <a:ext cx="2432304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28"/>
          <p:cNvSpPr/>
          <p:nvPr/>
        </p:nvSpPr>
        <p:spPr>
          <a:xfrm>
            <a:off x="6144768" y="2468880"/>
            <a:ext cx="54864" cy="914400"/>
          </a:xfrm>
          <a:prstGeom prst="rect">
            <a:avLst/>
          </a:prstGeom>
          <a:solidFill>
            <a:srgbClr val="00BCD4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28"/>
          <p:cNvSpPr/>
          <p:nvPr/>
        </p:nvSpPr>
        <p:spPr>
          <a:xfrm>
            <a:off x="6263640" y="2542032"/>
            <a:ext cx="22402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2030 세대 경제적 피부 진단 진입 장벽 낮춤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28"/>
          <p:cNvSpPr/>
          <p:nvPr/>
        </p:nvSpPr>
        <p:spPr>
          <a:xfrm>
            <a:off x="6144768" y="3520440"/>
            <a:ext cx="2432304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28"/>
          <p:cNvSpPr/>
          <p:nvPr/>
        </p:nvSpPr>
        <p:spPr>
          <a:xfrm>
            <a:off x="6144768" y="3520440"/>
            <a:ext cx="54864" cy="914400"/>
          </a:xfrm>
          <a:prstGeom prst="rect">
            <a:avLst/>
          </a:prstGeom>
          <a:solidFill>
            <a:srgbClr val="00BCD4"/>
          </a:solidFill>
          <a:ln cap="flat" cmpd="sng" w="127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28"/>
          <p:cNvSpPr/>
          <p:nvPr/>
        </p:nvSpPr>
        <p:spPr>
          <a:xfrm>
            <a:off x="6263640" y="3593592"/>
            <a:ext cx="224028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데이터 기반 셀프케어 동기 부여 및 습관화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29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29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0" name="Google Shape;1240;p29"/>
          <p:cNvSpPr/>
          <p:nvPr/>
        </p:nvSpPr>
        <p:spPr>
          <a:xfrm>
            <a:off x="365760" y="118872"/>
            <a:ext cx="54864" cy="384048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p29"/>
          <p:cNvSpPr/>
          <p:nvPr/>
        </p:nvSpPr>
        <p:spPr>
          <a:xfrm>
            <a:off x="493776" y="118872"/>
            <a:ext cx="8284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4.2 &amp; 4.3  한계점 · 개선 가능성 및 후속 연구 방향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p29"/>
          <p:cNvSpPr/>
          <p:nvPr/>
        </p:nvSpPr>
        <p:spPr>
          <a:xfrm>
            <a:off x="365760" y="65836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한계점 및 개선 방안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29"/>
          <p:cNvSpPr/>
          <p:nvPr/>
        </p:nvSpPr>
        <p:spPr>
          <a:xfrm>
            <a:off x="365760" y="978408"/>
            <a:ext cx="3931920" cy="109728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29"/>
          <p:cNvSpPr/>
          <p:nvPr/>
        </p:nvSpPr>
        <p:spPr>
          <a:xfrm>
            <a:off x="365760" y="978408"/>
            <a:ext cx="3931920" cy="292608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29"/>
          <p:cNvSpPr/>
          <p:nvPr/>
        </p:nvSpPr>
        <p:spPr>
          <a:xfrm>
            <a:off x="457200" y="978408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기기 환경 의존성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29"/>
          <p:cNvSpPr/>
          <p:nvPr/>
        </p:nvSpPr>
        <p:spPr>
          <a:xfrm>
            <a:off x="457200" y="1298448"/>
            <a:ext cx="37490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사용자 기기 카메라 성능·조명에 따른 분석 편차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→ OpenCV 전처리 고도화 + 데이터 증강으로 해결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p29"/>
          <p:cNvSpPr/>
          <p:nvPr/>
        </p:nvSpPr>
        <p:spPr>
          <a:xfrm>
            <a:off x="365760" y="2212848"/>
            <a:ext cx="3931920" cy="109728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p29"/>
          <p:cNvSpPr/>
          <p:nvPr/>
        </p:nvSpPr>
        <p:spPr>
          <a:xfrm>
            <a:off x="365760" y="2212848"/>
            <a:ext cx="3931920" cy="292608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p29"/>
          <p:cNvSpPr/>
          <p:nvPr/>
        </p:nvSpPr>
        <p:spPr>
          <a:xfrm>
            <a:off x="457200" y="2212848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데이터 편향 가능성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p29"/>
          <p:cNvSpPr/>
          <p:nvPr/>
        </p:nvSpPr>
        <p:spPr>
          <a:xfrm>
            <a:off x="457200" y="2532888"/>
            <a:ext cx="37490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특정 연령/피부 타입 데이터 부족 시 정확도 저하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→ 지속적인 학습 데이터 보강 및 재학습 계획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1" name="Google Shape;1251;p29"/>
          <p:cNvSpPr/>
          <p:nvPr/>
        </p:nvSpPr>
        <p:spPr>
          <a:xfrm>
            <a:off x="365760" y="3447288"/>
            <a:ext cx="3931920" cy="109728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p29"/>
          <p:cNvSpPr/>
          <p:nvPr/>
        </p:nvSpPr>
        <p:spPr>
          <a:xfrm>
            <a:off x="365760" y="3447288"/>
            <a:ext cx="3931920" cy="292608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p29"/>
          <p:cNvSpPr/>
          <p:nvPr/>
        </p:nvSpPr>
        <p:spPr>
          <a:xfrm>
            <a:off x="457200" y="3447288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의학적 책임 한계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29"/>
          <p:cNvSpPr/>
          <p:nvPr/>
        </p:nvSpPr>
        <p:spPr>
          <a:xfrm>
            <a:off x="457200" y="3767328"/>
            <a:ext cx="37490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AI 진단은 참고용이며 전문의 진단을 대체 불가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→ 면책 고지 및 전문가 연계 기능 추가 예정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p29"/>
          <p:cNvSpPr/>
          <p:nvPr/>
        </p:nvSpPr>
        <p:spPr>
          <a:xfrm>
            <a:off x="4663440" y="65836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후속 연구 및 서비스 확장 방향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29"/>
          <p:cNvSpPr/>
          <p:nvPr/>
        </p:nvSpPr>
        <p:spPr>
          <a:xfrm>
            <a:off x="4663440" y="978408"/>
            <a:ext cx="4114800" cy="109728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29"/>
          <p:cNvSpPr/>
          <p:nvPr/>
        </p:nvSpPr>
        <p:spPr>
          <a:xfrm>
            <a:off x="4663440" y="978408"/>
            <a:ext cx="4114800" cy="292608"/>
          </a:xfrm>
          <a:prstGeom prst="rect">
            <a:avLst/>
          </a:prstGeom>
          <a:solidFill>
            <a:srgbClr val="00796B"/>
          </a:solidFill>
          <a:ln cap="flat" cmpd="sng" w="12700">
            <a:solidFill>
              <a:srgbClr val="007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29"/>
          <p:cNvSpPr/>
          <p:nvPr/>
        </p:nvSpPr>
        <p:spPr>
          <a:xfrm>
            <a:off x="4754880" y="97840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실시간 영상 분석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29"/>
          <p:cNvSpPr/>
          <p:nvPr/>
        </p:nvSpPr>
        <p:spPr>
          <a:xfrm>
            <a:off x="4754880" y="1298448"/>
            <a:ext cx="3931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스트리밍 기반 정밀 실시간 피부 진단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(현재 정지 이미지 → 동영상 분석으로 확장)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29"/>
          <p:cNvSpPr/>
          <p:nvPr/>
        </p:nvSpPr>
        <p:spPr>
          <a:xfrm>
            <a:off x="4663440" y="2212848"/>
            <a:ext cx="4114800" cy="109728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29"/>
          <p:cNvSpPr/>
          <p:nvPr/>
        </p:nvSpPr>
        <p:spPr>
          <a:xfrm>
            <a:off x="4663440" y="2212848"/>
            <a:ext cx="4114800" cy="292608"/>
          </a:xfrm>
          <a:prstGeom prst="rect">
            <a:avLst/>
          </a:prstGeom>
          <a:solidFill>
            <a:srgbClr val="00796B"/>
          </a:solidFill>
          <a:ln cap="flat" cmpd="sng" w="12700">
            <a:solidFill>
              <a:srgbClr val="007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29"/>
          <p:cNvSpPr/>
          <p:nvPr/>
        </p:nvSpPr>
        <p:spPr>
          <a:xfrm>
            <a:off x="4754880" y="221284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화장품 구독 서비스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29"/>
          <p:cNvSpPr/>
          <p:nvPr/>
        </p:nvSpPr>
        <p:spPr>
          <a:xfrm>
            <a:off x="4754880" y="2532888"/>
            <a:ext cx="3931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피부 변화 추이에 따른 맞춤형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화장품 정기 배송 서비스 연계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29"/>
          <p:cNvSpPr/>
          <p:nvPr/>
        </p:nvSpPr>
        <p:spPr>
          <a:xfrm>
            <a:off x="4663440" y="3447288"/>
            <a:ext cx="4114800" cy="1097280"/>
          </a:xfrm>
          <a:prstGeom prst="rect">
            <a:avLst/>
          </a:prstGeom>
          <a:solidFill>
            <a:srgbClr val="E0F2F1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29"/>
          <p:cNvSpPr/>
          <p:nvPr/>
        </p:nvSpPr>
        <p:spPr>
          <a:xfrm>
            <a:off x="4663440" y="3447288"/>
            <a:ext cx="4114800" cy="292608"/>
          </a:xfrm>
          <a:prstGeom prst="rect">
            <a:avLst/>
          </a:prstGeom>
          <a:solidFill>
            <a:srgbClr val="00796B"/>
          </a:solidFill>
          <a:ln cap="flat" cmpd="sng" w="12700">
            <a:solidFill>
              <a:srgbClr val="0079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29"/>
          <p:cNvSpPr/>
          <p:nvPr/>
        </p:nvSpPr>
        <p:spPr>
          <a:xfrm>
            <a:off x="4754880" y="344728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글로벌 확장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29"/>
          <p:cNvSpPr/>
          <p:nvPr/>
        </p:nvSpPr>
        <p:spPr>
          <a:xfrm>
            <a:off x="4754880" y="3767328"/>
            <a:ext cx="3931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다양한 인종별 피부 데이터 확보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6B"/>
              </a:buClr>
              <a:buSzPts val="900"/>
              <a:buFont typeface="Calibri"/>
              <a:buNone/>
            </a:pPr>
            <a:r>
              <a:rPr b="0" i="0" lang="en-US" sz="1400" u="none" cap="none" strike="noStrike">
                <a:solidFill>
                  <a:srgbClr val="00796B"/>
                </a:solidFill>
                <a:latin typeface="Arial"/>
                <a:ea typeface="Arial"/>
                <a:cs typeface="Arial"/>
                <a:sym typeface="Arial"/>
              </a:rPr>
              <a:t>글로벌 서비스 런칭 및 다국어 지원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3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30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30"/>
          <p:cNvSpPr/>
          <p:nvPr/>
        </p:nvSpPr>
        <p:spPr>
          <a:xfrm>
            <a:off x="365760" y="118872"/>
            <a:ext cx="54864" cy="384048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30"/>
          <p:cNvSpPr/>
          <p:nvPr/>
        </p:nvSpPr>
        <p:spPr>
          <a:xfrm>
            <a:off x="493776" y="118872"/>
            <a:ext cx="8284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5.  참고 문헌 및 자료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30"/>
          <p:cNvSpPr/>
          <p:nvPr/>
        </p:nvSpPr>
        <p:spPr>
          <a:xfrm>
            <a:off x="365760" y="685800"/>
            <a:ext cx="8412480" cy="54864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30"/>
          <p:cNvSpPr/>
          <p:nvPr/>
        </p:nvSpPr>
        <p:spPr>
          <a:xfrm>
            <a:off x="365760" y="685800"/>
            <a:ext cx="365760" cy="54864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30"/>
          <p:cNvSpPr/>
          <p:nvPr/>
        </p:nvSpPr>
        <p:spPr>
          <a:xfrm>
            <a:off x="365760" y="685800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[1]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30"/>
          <p:cNvSpPr/>
          <p:nvPr/>
        </p:nvSpPr>
        <p:spPr>
          <a:xfrm>
            <a:off x="804672" y="71323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AI Hub — 한국인 피부 이미지 데이터셋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30"/>
          <p:cNvSpPr/>
          <p:nvPr/>
        </p:nvSpPr>
        <p:spPr>
          <a:xfrm>
            <a:off x="804672" y="987552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https://www.aihub.or.kr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30"/>
          <p:cNvSpPr/>
          <p:nvPr/>
        </p:nvSpPr>
        <p:spPr>
          <a:xfrm>
            <a:off x="5943600" y="68580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 xml:space="preserve">국내 사용자 피부 이미지 학습 </a:t>
            </a:r>
            <a:endParaRPr b="0" i="0" sz="1400" u="none" cap="none" strike="noStrike">
              <a:solidFill>
                <a:srgbClr val="546E7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데이터 주력 활용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30"/>
          <p:cNvSpPr/>
          <p:nvPr/>
        </p:nvSpPr>
        <p:spPr>
          <a:xfrm>
            <a:off x="365760" y="1298448"/>
            <a:ext cx="841248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30"/>
          <p:cNvSpPr/>
          <p:nvPr/>
        </p:nvSpPr>
        <p:spPr>
          <a:xfrm>
            <a:off x="365760" y="1298448"/>
            <a:ext cx="365760" cy="54864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30"/>
          <p:cNvSpPr/>
          <p:nvPr/>
        </p:nvSpPr>
        <p:spPr>
          <a:xfrm>
            <a:off x="365760" y="1298448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[2]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30"/>
          <p:cNvSpPr/>
          <p:nvPr/>
        </p:nvSpPr>
        <p:spPr>
          <a:xfrm>
            <a:off x="804672" y="1325880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Ultralytics — YOLOv8 Official Documentation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p30"/>
          <p:cNvSpPr/>
          <p:nvPr/>
        </p:nvSpPr>
        <p:spPr>
          <a:xfrm>
            <a:off x="804672" y="160020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https://docs.ultralytics.com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8" name="Google Shape;1288;p30"/>
          <p:cNvSpPr/>
          <p:nvPr/>
        </p:nvSpPr>
        <p:spPr>
          <a:xfrm>
            <a:off x="5943600" y="1298448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 xml:space="preserve">실시간 객체 탐지 모델 YOLOv8 </a:t>
            </a:r>
            <a:endParaRPr b="0" i="0" sz="1400" u="none" cap="none" strike="noStrike">
              <a:solidFill>
                <a:srgbClr val="546E7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공식 문서 및 API 레퍼런스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30"/>
          <p:cNvSpPr/>
          <p:nvPr/>
        </p:nvSpPr>
        <p:spPr>
          <a:xfrm>
            <a:off x="365760" y="1911096"/>
            <a:ext cx="8412480" cy="54864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30"/>
          <p:cNvSpPr/>
          <p:nvPr/>
        </p:nvSpPr>
        <p:spPr>
          <a:xfrm>
            <a:off x="365760" y="1911096"/>
            <a:ext cx="365760" cy="54864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30"/>
          <p:cNvSpPr/>
          <p:nvPr/>
        </p:nvSpPr>
        <p:spPr>
          <a:xfrm>
            <a:off x="365760" y="1911096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[3]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30"/>
          <p:cNvSpPr/>
          <p:nvPr/>
        </p:nvSpPr>
        <p:spPr>
          <a:xfrm>
            <a:off x="804672" y="1938528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공공데이터포털 — 화장품 성분 정보 API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30"/>
          <p:cNvSpPr/>
          <p:nvPr/>
        </p:nvSpPr>
        <p:spPr>
          <a:xfrm>
            <a:off x="804672" y="221284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https://www.data.go.kr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30"/>
          <p:cNvSpPr/>
          <p:nvPr/>
        </p:nvSpPr>
        <p:spPr>
          <a:xfrm>
            <a:off x="5943600" y="1911096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 xml:space="preserve">식약처 화장품 전성분 공공 API </a:t>
            </a:r>
            <a:endParaRPr b="0" i="0" sz="1400" u="none" cap="none" strike="noStrike">
              <a:solidFill>
                <a:srgbClr val="546E7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활용 성분 DB 구축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p30"/>
          <p:cNvSpPr/>
          <p:nvPr/>
        </p:nvSpPr>
        <p:spPr>
          <a:xfrm>
            <a:off x="365760" y="2523744"/>
            <a:ext cx="841248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30"/>
          <p:cNvSpPr/>
          <p:nvPr/>
        </p:nvSpPr>
        <p:spPr>
          <a:xfrm>
            <a:off x="365760" y="2523744"/>
            <a:ext cx="365760" cy="54864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30"/>
          <p:cNvSpPr/>
          <p:nvPr/>
        </p:nvSpPr>
        <p:spPr>
          <a:xfrm>
            <a:off x="365760" y="2523744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[4]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30"/>
          <p:cNvSpPr/>
          <p:nvPr/>
        </p:nvSpPr>
        <p:spPr>
          <a:xfrm>
            <a:off x="804672" y="2551176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대한피부과의사회 — 피부 관리 가이드라인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30"/>
          <p:cNvSpPr/>
          <p:nvPr/>
        </p:nvSpPr>
        <p:spPr>
          <a:xfrm>
            <a:off x="804672" y="2825496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https://www.kderma.org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30"/>
          <p:cNvSpPr/>
          <p:nvPr/>
        </p:nvSpPr>
        <p:spPr>
          <a:xfrm>
            <a:off x="5943600" y="2523744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 xml:space="preserve">LLM 지식베이스에 주입하는 의학적 판단 기준 및 </a:t>
            </a:r>
            <a:endParaRPr b="0" i="0" sz="1400" u="none" cap="none" strike="noStrike">
              <a:solidFill>
                <a:srgbClr val="546E7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스킨케어 가이드라인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p30"/>
          <p:cNvSpPr/>
          <p:nvPr/>
        </p:nvSpPr>
        <p:spPr>
          <a:xfrm>
            <a:off x="365760" y="3136392"/>
            <a:ext cx="8412480" cy="54864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30"/>
          <p:cNvSpPr/>
          <p:nvPr/>
        </p:nvSpPr>
        <p:spPr>
          <a:xfrm>
            <a:off x="365760" y="3136392"/>
            <a:ext cx="365760" cy="54864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p30"/>
          <p:cNvSpPr/>
          <p:nvPr/>
        </p:nvSpPr>
        <p:spPr>
          <a:xfrm>
            <a:off x="365760" y="3136392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[5]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4" name="Google Shape;1304;p30"/>
          <p:cNvSpPr/>
          <p:nvPr/>
        </p:nvSpPr>
        <p:spPr>
          <a:xfrm>
            <a:off x="804672" y="3163824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Roboflow — Computer Vision Platform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p30"/>
          <p:cNvSpPr/>
          <p:nvPr/>
        </p:nvSpPr>
        <p:spPr>
          <a:xfrm>
            <a:off x="804672" y="3438144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https://roboflow.com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6" name="Google Shape;1306;p30"/>
          <p:cNvSpPr/>
          <p:nvPr/>
        </p:nvSpPr>
        <p:spPr>
          <a:xfrm>
            <a:off x="5943600" y="3136392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피부 트러블 객체 라벨링 자동화 및 Augmentation 수행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p30"/>
          <p:cNvSpPr/>
          <p:nvPr/>
        </p:nvSpPr>
        <p:spPr>
          <a:xfrm>
            <a:off x="365760" y="3749040"/>
            <a:ext cx="841248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8" name="Google Shape;1308;p30"/>
          <p:cNvSpPr/>
          <p:nvPr/>
        </p:nvSpPr>
        <p:spPr>
          <a:xfrm>
            <a:off x="365760" y="3749040"/>
            <a:ext cx="365760" cy="54864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9" name="Google Shape;1309;p30"/>
          <p:cNvSpPr/>
          <p:nvPr/>
        </p:nvSpPr>
        <p:spPr>
          <a:xfrm>
            <a:off x="365760" y="3749040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[6]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p30"/>
          <p:cNvSpPr/>
          <p:nvPr/>
        </p:nvSpPr>
        <p:spPr>
          <a:xfrm>
            <a:off x="804672" y="377647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OpenAI — GPT-4 API Documentation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p30"/>
          <p:cNvSpPr/>
          <p:nvPr/>
        </p:nvSpPr>
        <p:spPr>
          <a:xfrm>
            <a:off x="804672" y="4050792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https://platform.openai.com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30"/>
          <p:cNvSpPr/>
          <p:nvPr/>
        </p:nvSpPr>
        <p:spPr>
          <a:xfrm>
            <a:off x="5943600" y="374904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피부 분석 수치의 자연어 변환 및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맞춤 루틴 생성에 활용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p30"/>
          <p:cNvSpPr/>
          <p:nvPr/>
        </p:nvSpPr>
        <p:spPr>
          <a:xfrm>
            <a:off x="365760" y="4361688"/>
            <a:ext cx="8412480" cy="548640"/>
          </a:xfrm>
          <a:prstGeom prst="rect">
            <a:avLst/>
          </a:prstGeom>
          <a:solidFill>
            <a:srgbClr val="ECEFF1"/>
          </a:solidFill>
          <a:ln cap="flat" cmpd="sng" w="127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30"/>
          <p:cNvSpPr/>
          <p:nvPr/>
        </p:nvSpPr>
        <p:spPr>
          <a:xfrm>
            <a:off x="365760" y="4361688"/>
            <a:ext cx="365760" cy="548640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30"/>
          <p:cNvSpPr/>
          <p:nvPr/>
        </p:nvSpPr>
        <p:spPr>
          <a:xfrm>
            <a:off x="365760" y="4361688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[7]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30"/>
          <p:cNvSpPr/>
          <p:nvPr/>
        </p:nvSpPr>
        <p:spPr>
          <a:xfrm>
            <a:off x="804672" y="4389120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Anthropic — Claude API Documentation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7" name="Google Shape;1317;p30"/>
          <p:cNvSpPr/>
          <p:nvPr/>
        </p:nvSpPr>
        <p:spPr>
          <a:xfrm>
            <a:off x="804672" y="466344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https://docs.anthropic.com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p30"/>
          <p:cNvSpPr/>
          <p:nvPr/>
        </p:nvSpPr>
        <p:spPr>
          <a:xfrm>
            <a:off x="5943600" y="4361688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 xml:space="preserve">의학 가이드라인 기반 고신뢰성 </a:t>
            </a:r>
            <a:endParaRPr b="0" i="0" sz="1400" u="none" cap="none" strike="noStrike">
              <a:solidFill>
                <a:srgbClr val="546E7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b="0" i="0" lang="en-US" sz="14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지식베이스 구축 및 성분 판별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3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5" name="Google Shape;1325;p31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6" name="Google Shape;1326;p3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688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Q &amp; A</a:t>
            </a:r>
            <a:endParaRPr b="0" i="0" sz="6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7" name="Google Shape;1327;p31"/>
          <p:cNvSpPr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46E7A"/>
                </a:solidFill>
                <a:latin typeface="Arial"/>
                <a:ea typeface="Arial"/>
                <a:cs typeface="Arial"/>
                <a:sym typeface="Arial"/>
              </a:rPr>
              <a:t>질의응답 및 의견 경청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p31"/>
          <p:cNvSpPr/>
          <p:nvPr/>
        </p:nvSpPr>
        <p:spPr>
          <a:xfrm>
            <a:off x="3200400" y="2468880"/>
            <a:ext cx="2743200" cy="27432"/>
          </a:xfrm>
          <a:prstGeom prst="rect">
            <a:avLst/>
          </a:prstGeom>
          <a:solidFill>
            <a:srgbClr val="009688"/>
          </a:solidFill>
          <a:ln cap="flat" cmpd="sng" w="12700">
            <a:solidFill>
              <a:srgbClr val="0096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9" name="Google Shape;1329;p3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감사합니다.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0" name="Google Shape;1330;p31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0BEC5"/>
                </a:solidFill>
                <a:latin typeface="Arial"/>
                <a:ea typeface="Arial"/>
                <a:cs typeface="Arial"/>
                <a:sym typeface="Arial"/>
              </a:rPr>
              <a:t>팀 응원해조  |  Mirror Me Project  |  GitHub: usohee/AI_SkinCare_project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